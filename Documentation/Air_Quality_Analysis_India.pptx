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r Quality EDA" id="{1f92bcb6-2753-7cc5-e14b-a58e450562ac}">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Air Quality Analysis in India (EDA Sprint 1). Student Ajmal, ID AF05320136, Course AIML, Batch ANP-D744, Anudip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covers 31 states/UTs, 266 cities and 496 stations in the raw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taken from the project README: analyse station data to find pollution levels and the most polluted states and cities based on PM2.5 and PM10.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answered by a specific step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analysis questions; slides 9 to 11 answer each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file: Dataset/dataset.csv (3,314 rows, 11 columns). Cleaned file: Dataset/cleaned dataset.csv (3,093 rows, 10 columns). Highlighted columns are the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reproduced by running Python/data_loading.py on Dataset/dataset.csv. The same missing 221 rows are missing min, max and avg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come from Python/data_cleaning.py. The saved cleaned CSV stores last_update as text; the datetime conversion applies inside the script. Title-casing is a small formatting quirk worth fixing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Libraries: pandas (groupby, filtering, describe), SciPy (pearsonr, skew). Output reproduced by running Python/exploratory_analysis.py on the cleaned CSV. PM10 skewness is 1.15 and PM2.5 skewness is 0.56.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built with Matplotlib (pandas plotting). Chart name, purpose, what it shows and key insight are listed beside each chart. Seaborn is installed and imported in the notebook but the four saved charts use Matplotlib.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comes from the cleaned dataset (3,093 rows). Recommendations 1 to 3 follow the project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linking back to the problem: the analysis identifies where and how badly India's stations record PM2.5 and PM10.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5212080" cy="15544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C4C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5212080" cy="1554480"/>
          </a:xfrm>
          <a:prstGeom prst="rect">
            <a:avLst/>
          </a:prstGeom>
          <a:noFill/>
          <a:ln/>
        </p:spPr>
        <p:txBody>
          <a:bodyPr wrap="square" lIns="0" tIns="0" rIns="0" bIns="0" rtlCol="0" anchor="b"/>
          <a:lstStyle/>
          <a:p>
            <a:pPr algn="l" indent="0" marL="0">
              <a:buNone/>
            </a:pPr>
            <a:r>
              <a:rPr lang="en-US" sz="3800" b="1" dirty="0">
                <a:solidFill>
                  <a:schemeClr val="bg1"/>
                </a:solidFill>
              </a:rPr>
              <a:t>Air Quality Analysis in India</a:t>
            </a:r>
            <a:endParaRPr lang="en-US" sz="3800" dirty="0"/>
          </a:p>
        </p:txBody>
      </p:sp>
      <p:sp>
        <p:nvSpPr>
          <p:cNvPr id="3" name="subtitle"/>
          <p:cNvSpPr txBox="1"/>
          <p:nvPr/>
        </p:nvSpPr>
        <p:spPr>
          <a:xfrm>
            <a:off x="548640" y="2331720"/>
            <a:ext cx="5212080" cy="548640"/>
          </a:xfrm>
          <a:prstGeom prst="rect">
            <a:avLst/>
          </a:prstGeom>
          <a:noFill/>
          <a:ln/>
        </p:spPr>
        <p:txBody>
          <a:bodyPr wrap="square" lIns="0" tIns="0" rIns="0" bIns="0" rtlCol="0" anchor="t"/>
          <a:lstStyle/>
          <a:p>
            <a:pPr indent="0" marL="0">
              <a:buNone/>
            </a:pPr>
            <a:r>
              <a:rPr lang="en-US" sz="1500" dirty="0">
                <a:solidFill>
                  <a:schemeClr val="accent5"/>
                </a:solidFill>
              </a:rPr>
              <a:t>Exploratory data analysis of monitoring-station readings, snapshot of 30 Jan 2024</a:t>
            </a:r>
            <a:endParaRPr lang="en-US" sz="1500" dirty="0"/>
          </a:p>
        </p:txBody>
      </p:sp>
      <p:sp>
        <p:nvSpPr>
          <p:cNvPr id="4" name="Text 2"/>
          <p:cNvSpPr txBox="1"/>
          <p:nvPr/>
        </p:nvSpPr>
        <p:spPr>
          <a:xfrm>
            <a:off x="548640" y="3108960"/>
            <a:ext cx="1371600" cy="274320"/>
          </a:xfrm>
          <a:prstGeom prst="rect">
            <a:avLst/>
          </a:prstGeom>
          <a:noFill/>
          <a:ln/>
        </p:spPr>
        <p:txBody>
          <a:bodyPr wrap="square" lIns="0" tIns="0" rIns="0" bIns="0" rtlCol="0" anchor="ctr"/>
          <a:lstStyle/>
          <a:p>
            <a:pPr indent="0" marL="0">
              <a:buNone/>
            </a:pPr>
            <a:r>
              <a:rPr lang="en-US" sz="1100" b="1" dirty="0">
                <a:solidFill>
                  <a:schemeClr val="accent3"/>
                </a:solidFill>
              </a:rPr>
              <a:t>INDUSTRY</a:t>
            </a:r>
            <a:endParaRPr lang="en-US" sz="1100" dirty="0"/>
          </a:p>
        </p:txBody>
      </p:sp>
      <p:sp>
        <p:nvSpPr>
          <p:cNvPr id="5" name="Text 3"/>
          <p:cNvSpPr txBox="1"/>
          <p:nvPr/>
        </p:nvSpPr>
        <p:spPr>
          <a:xfrm>
            <a:off x="1920240" y="3108960"/>
            <a:ext cx="3840480" cy="274320"/>
          </a:xfrm>
          <a:prstGeom prst="rect">
            <a:avLst/>
          </a:prstGeom>
          <a:noFill/>
          <a:ln/>
        </p:spPr>
        <p:txBody>
          <a:bodyPr wrap="square" lIns="0" tIns="0" rIns="0" bIns="0" rtlCol="0" anchor="ctr"/>
          <a:lstStyle/>
          <a:p>
            <a:pPr indent="0" marL="0">
              <a:buNone/>
            </a:pPr>
            <a:r>
              <a:rPr lang="en-US" sz="1500" dirty="0">
                <a:solidFill>
                  <a:schemeClr val="bg1"/>
                </a:solidFill>
              </a:rPr>
              <a:t>Environmental Data Analysis</a:t>
            </a:r>
            <a:endParaRPr lang="en-US" sz="1500" dirty="0"/>
          </a:p>
        </p:txBody>
      </p:sp>
      <p:sp>
        <p:nvSpPr>
          <p:cNvPr id="6" name="Text 4"/>
          <p:cNvSpPr txBox="1"/>
          <p:nvPr/>
        </p:nvSpPr>
        <p:spPr>
          <a:xfrm>
            <a:off x="548640" y="3438144"/>
            <a:ext cx="1371600" cy="274320"/>
          </a:xfrm>
          <a:prstGeom prst="rect">
            <a:avLst/>
          </a:prstGeom>
          <a:noFill/>
          <a:ln/>
        </p:spPr>
        <p:txBody>
          <a:bodyPr wrap="square" lIns="0" tIns="0" rIns="0" bIns="0" rtlCol="0" anchor="ctr"/>
          <a:lstStyle/>
          <a:p>
            <a:pPr indent="0" marL="0">
              <a:buNone/>
            </a:pPr>
            <a:r>
              <a:rPr lang="en-US" sz="1100" b="1" dirty="0">
                <a:solidFill>
                  <a:schemeClr val="accent3"/>
                </a:solidFill>
              </a:rPr>
              <a:t>STUDENT</a:t>
            </a:r>
            <a:endParaRPr lang="en-US" sz="1100" dirty="0"/>
          </a:p>
        </p:txBody>
      </p:sp>
      <p:sp>
        <p:nvSpPr>
          <p:cNvPr id="7" name="Text 5"/>
          <p:cNvSpPr txBox="1"/>
          <p:nvPr/>
        </p:nvSpPr>
        <p:spPr>
          <a:xfrm>
            <a:off x="1920240" y="3438144"/>
            <a:ext cx="3840480" cy="274320"/>
          </a:xfrm>
          <a:prstGeom prst="rect">
            <a:avLst/>
          </a:prstGeom>
          <a:noFill/>
          <a:ln/>
        </p:spPr>
        <p:txBody>
          <a:bodyPr wrap="square" lIns="0" tIns="0" rIns="0" bIns="0" rtlCol="0" anchor="ctr"/>
          <a:lstStyle/>
          <a:p>
            <a:pPr indent="0" marL="0">
              <a:buNone/>
            </a:pPr>
            <a:r>
              <a:rPr lang="en-US" sz="1500" dirty="0">
                <a:solidFill>
                  <a:schemeClr val="bg1"/>
                </a:solidFill>
              </a:rPr>
              <a:t>Ajmal</a:t>
            </a:r>
            <a:endParaRPr lang="en-US" sz="1500" dirty="0"/>
          </a:p>
        </p:txBody>
      </p:sp>
      <p:sp>
        <p:nvSpPr>
          <p:cNvPr id="8" name="Text 6"/>
          <p:cNvSpPr txBox="1"/>
          <p:nvPr/>
        </p:nvSpPr>
        <p:spPr>
          <a:xfrm>
            <a:off x="548640" y="3767328"/>
            <a:ext cx="1371600" cy="274320"/>
          </a:xfrm>
          <a:prstGeom prst="rect">
            <a:avLst/>
          </a:prstGeom>
          <a:noFill/>
          <a:ln/>
        </p:spPr>
        <p:txBody>
          <a:bodyPr wrap="square" lIns="0" tIns="0" rIns="0" bIns="0" rtlCol="0" anchor="ctr"/>
          <a:lstStyle/>
          <a:p>
            <a:pPr indent="0" marL="0">
              <a:buNone/>
            </a:pPr>
            <a:r>
              <a:rPr lang="en-US" sz="1100" b="1" dirty="0">
                <a:solidFill>
                  <a:schemeClr val="accent3"/>
                </a:solidFill>
              </a:rPr>
              <a:t>STUDENT ID</a:t>
            </a:r>
            <a:endParaRPr lang="en-US" sz="1100" dirty="0"/>
          </a:p>
        </p:txBody>
      </p:sp>
      <p:sp>
        <p:nvSpPr>
          <p:cNvPr id="9" name="Text 7"/>
          <p:cNvSpPr txBox="1"/>
          <p:nvPr/>
        </p:nvSpPr>
        <p:spPr>
          <a:xfrm>
            <a:off x="1920240" y="3767328"/>
            <a:ext cx="3840480" cy="274320"/>
          </a:xfrm>
          <a:prstGeom prst="rect">
            <a:avLst/>
          </a:prstGeom>
          <a:noFill/>
          <a:ln/>
        </p:spPr>
        <p:txBody>
          <a:bodyPr wrap="square" lIns="0" tIns="0" rIns="0" bIns="0" rtlCol="0" anchor="ctr"/>
          <a:lstStyle/>
          <a:p>
            <a:pPr indent="0" marL="0">
              <a:buNone/>
            </a:pPr>
            <a:r>
              <a:rPr lang="en-US" sz="1500" dirty="0">
                <a:solidFill>
                  <a:schemeClr val="bg1"/>
                </a:solidFill>
              </a:rPr>
              <a:t>AF05320136</a:t>
            </a:r>
            <a:endParaRPr lang="en-US" sz="1500" dirty="0"/>
          </a:p>
        </p:txBody>
      </p:sp>
      <p:sp>
        <p:nvSpPr>
          <p:cNvPr id="10" name="Text 8"/>
          <p:cNvSpPr txBox="1"/>
          <p:nvPr/>
        </p:nvSpPr>
        <p:spPr>
          <a:xfrm>
            <a:off x="548640" y="4096512"/>
            <a:ext cx="1371600" cy="274320"/>
          </a:xfrm>
          <a:prstGeom prst="rect">
            <a:avLst/>
          </a:prstGeom>
          <a:noFill/>
          <a:ln/>
        </p:spPr>
        <p:txBody>
          <a:bodyPr wrap="square" lIns="0" tIns="0" rIns="0" bIns="0" rtlCol="0" anchor="ctr"/>
          <a:lstStyle/>
          <a:p>
            <a:pPr indent="0" marL="0">
              <a:buNone/>
            </a:pPr>
            <a:r>
              <a:rPr lang="en-US" sz="1100" b="1" dirty="0">
                <a:solidFill>
                  <a:schemeClr val="accent3"/>
                </a:solidFill>
              </a:rPr>
              <a:t>COURSE</a:t>
            </a:r>
            <a:endParaRPr lang="en-US" sz="1100" dirty="0"/>
          </a:p>
        </p:txBody>
      </p:sp>
      <p:sp>
        <p:nvSpPr>
          <p:cNvPr id="11" name="Text 9"/>
          <p:cNvSpPr txBox="1"/>
          <p:nvPr/>
        </p:nvSpPr>
        <p:spPr>
          <a:xfrm>
            <a:off x="1920240" y="4096512"/>
            <a:ext cx="3840480" cy="274320"/>
          </a:xfrm>
          <a:prstGeom prst="rect">
            <a:avLst/>
          </a:prstGeom>
          <a:noFill/>
          <a:ln/>
        </p:spPr>
        <p:txBody>
          <a:bodyPr wrap="square" lIns="0" tIns="0" rIns="0" bIns="0" rtlCol="0" anchor="ctr"/>
          <a:lstStyle/>
          <a:p>
            <a:pPr indent="0" marL="0">
              <a:buNone/>
            </a:pPr>
            <a:r>
              <a:rPr lang="en-US" sz="1500" dirty="0">
                <a:solidFill>
                  <a:schemeClr val="bg1"/>
                </a:solidFill>
              </a:rPr>
              <a:t>AIML</a:t>
            </a:r>
            <a:endParaRPr lang="en-US" sz="1500" dirty="0"/>
          </a:p>
        </p:txBody>
      </p:sp>
      <p:sp>
        <p:nvSpPr>
          <p:cNvPr id="12" name="Text 10"/>
          <p:cNvSpPr txBox="1"/>
          <p:nvPr/>
        </p:nvSpPr>
        <p:spPr>
          <a:xfrm>
            <a:off x="548640" y="4425696"/>
            <a:ext cx="1371600" cy="274320"/>
          </a:xfrm>
          <a:prstGeom prst="rect">
            <a:avLst/>
          </a:prstGeom>
          <a:noFill/>
          <a:ln/>
        </p:spPr>
        <p:txBody>
          <a:bodyPr wrap="square" lIns="0" tIns="0" rIns="0" bIns="0" rtlCol="0" anchor="ctr"/>
          <a:lstStyle/>
          <a:p>
            <a:pPr indent="0" marL="0">
              <a:buNone/>
            </a:pPr>
            <a:r>
              <a:rPr lang="en-US" sz="1100" b="1" dirty="0">
                <a:solidFill>
                  <a:schemeClr val="accent3"/>
                </a:solidFill>
              </a:rPr>
              <a:t>BATCH CODE</a:t>
            </a:r>
            <a:endParaRPr lang="en-US" sz="1100" dirty="0"/>
          </a:p>
        </p:txBody>
      </p:sp>
      <p:sp>
        <p:nvSpPr>
          <p:cNvPr id="13" name="Text 11"/>
          <p:cNvSpPr txBox="1"/>
          <p:nvPr/>
        </p:nvSpPr>
        <p:spPr>
          <a:xfrm>
            <a:off x="1920240" y="4425696"/>
            <a:ext cx="3840480" cy="274320"/>
          </a:xfrm>
          <a:prstGeom prst="rect">
            <a:avLst/>
          </a:prstGeom>
          <a:noFill/>
          <a:ln/>
        </p:spPr>
        <p:txBody>
          <a:bodyPr wrap="square" lIns="0" tIns="0" rIns="0" bIns="0" rtlCol="0" anchor="ctr"/>
          <a:lstStyle/>
          <a:p>
            <a:pPr indent="0" marL="0">
              <a:buNone/>
            </a:pPr>
            <a:r>
              <a:rPr lang="en-US" sz="1500" dirty="0">
                <a:solidFill>
                  <a:schemeClr val="bg1"/>
                </a:solidFill>
              </a:rPr>
              <a:t>ANP-D744</a:t>
            </a:r>
            <a:endParaRPr lang="en-US" sz="1500" dirty="0"/>
          </a:p>
        </p:txBody>
      </p:sp>
      <p:sp>
        <p:nvSpPr>
          <p:cNvPr id="14" name="ring"/>
          <p:cNvSpPr/>
          <p:nvPr/>
        </p:nvSpPr>
        <p:spPr>
          <a:xfrm>
            <a:off x="6309360" y="1005840"/>
            <a:ext cx="2468880" cy="2468880"/>
          </a:xfrm>
          <a:prstGeom prst="ellipse">
            <a:avLst/>
          </a:prstGeom>
          <a:solidFill>
            <a:schemeClr val="tx1"/>
          </a:solidFill>
          <a:ln w="101600">
            <a:solidFill>
              <a:schemeClr val="accent3"/>
            </a:solidFill>
            <a:prstDash val="solid"/>
          </a:ln>
        </p:spPr>
      </p:sp>
      <p:sp>
        <p:nvSpPr>
          <p:cNvPr id="15" name="Text 13"/>
          <p:cNvSpPr txBox="1"/>
          <p:nvPr/>
        </p:nvSpPr>
        <p:spPr>
          <a:xfrm>
            <a:off x="6309360" y="1554480"/>
            <a:ext cx="2468880" cy="914400"/>
          </a:xfrm>
          <a:prstGeom prst="rect">
            <a:avLst/>
          </a:prstGeom>
          <a:noFill/>
          <a:ln/>
        </p:spPr>
        <p:txBody>
          <a:bodyPr wrap="square" lIns="0" tIns="0" rIns="0" bIns="0" rtlCol="0" anchor="ctr"/>
          <a:lstStyle/>
          <a:p>
            <a:pPr algn="ctr" indent="0" marL="0">
              <a:buNone/>
            </a:pPr>
            <a:r>
              <a:rPr lang="en-US" sz="6000" b="1" dirty="0">
                <a:solidFill>
                  <a:schemeClr val="bg1"/>
                </a:solidFill>
              </a:rPr>
              <a:t>175</a:t>
            </a:r>
            <a:endParaRPr lang="en-US" sz="6000" dirty="0"/>
          </a:p>
        </p:txBody>
      </p:sp>
      <p:sp>
        <p:nvSpPr>
          <p:cNvPr id="16" name="Text 14"/>
          <p:cNvSpPr txBox="1"/>
          <p:nvPr/>
        </p:nvSpPr>
        <p:spPr>
          <a:xfrm>
            <a:off x="6309360" y="2468880"/>
            <a:ext cx="2468880" cy="365760"/>
          </a:xfrm>
          <a:prstGeom prst="rect">
            <a:avLst/>
          </a:prstGeom>
          <a:noFill/>
          <a:ln/>
        </p:spPr>
        <p:txBody>
          <a:bodyPr wrap="square" lIns="0" tIns="0" rIns="0" bIns="0" rtlCol="0" anchor="ctr"/>
          <a:lstStyle/>
          <a:p>
            <a:pPr algn="ctr" indent="0" marL="0">
              <a:buNone/>
            </a:pPr>
            <a:r>
              <a:rPr lang="en-US" sz="1400" dirty="0">
                <a:solidFill>
                  <a:schemeClr val="accent5"/>
                </a:solidFill>
              </a:rPr>
              <a:t>average PM2.5 reading</a:t>
            </a:r>
            <a:endParaRPr lang="en-US" sz="1400" dirty="0"/>
          </a:p>
        </p:txBody>
      </p:sp>
      <p:sp>
        <p:nvSpPr>
          <p:cNvPr id="17" name="Text 15"/>
          <p:cNvSpPr txBox="1"/>
          <p:nvPr/>
        </p:nvSpPr>
        <p:spPr>
          <a:xfrm>
            <a:off x="6309360" y="3840480"/>
            <a:ext cx="2468880" cy="365760"/>
          </a:xfrm>
          <a:prstGeom prst="rect">
            <a:avLst/>
          </a:prstGeom>
          <a:noFill/>
          <a:ln/>
        </p:spPr>
        <p:txBody>
          <a:bodyPr wrap="square" lIns="0" tIns="0" rIns="0" bIns="0" rtlCol="0" anchor="t"/>
          <a:lstStyle/>
          <a:p>
            <a:pPr algn="ctr" indent="0" marL="0">
              <a:buNone/>
            </a:pPr>
            <a:r>
              <a:rPr lang="en-US" sz="1400" dirty="0">
                <a:solidFill>
                  <a:schemeClr val="accent5"/>
                </a:solidFill>
              </a:rPr>
              <a:t>Anudip Foundation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Industry Overview</a:t>
            </a:r>
            <a:endParaRPr lang="en-US" sz="3000" dirty="0"/>
          </a:p>
        </p:txBody>
      </p:sp>
      <p:sp>
        <p:nvSpPr>
          <p:cNvPr id="3" name="Text 1"/>
          <p:cNvSpPr txBox="1"/>
          <p:nvPr/>
        </p:nvSpPr>
        <p:spPr>
          <a:xfrm>
            <a:off x="457200" y="1097280"/>
            <a:ext cx="4754880" cy="228600"/>
          </a:xfrm>
          <a:prstGeom prst="rect">
            <a:avLst/>
          </a:prstGeom>
          <a:noFill/>
          <a:ln/>
        </p:spPr>
        <p:txBody>
          <a:bodyPr wrap="square" lIns="0" tIns="0" rIns="0" bIns="0" rtlCol="0" anchor="t"/>
          <a:lstStyle/>
          <a:p>
            <a:pPr indent="0" marL="0">
              <a:buNone/>
            </a:pPr>
            <a:r>
              <a:rPr lang="en-US" sz="1100" b="1" dirty="0">
                <a:solidFill>
                  <a:schemeClr val="accent1"/>
                </a:solidFill>
              </a:rPr>
              <a:t>SELECTED INDUSTRY</a:t>
            </a:r>
            <a:endParaRPr lang="en-US" sz="1100" dirty="0"/>
          </a:p>
        </p:txBody>
      </p:sp>
      <p:sp>
        <p:nvSpPr>
          <p:cNvPr id="4" name="Text 2"/>
          <p:cNvSpPr txBox="1"/>
          <p:nvPr/>
        </p:nvSpPr>
        <p:spPr>
          <a:xfrm>
            <a:off x="457200" y="1325880"/>
            <a:ext cx="475488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Environmental Data Analysis</a:t>
            </a:r>
            <a:endParaRPr lang="en-US" sz="2200" dirty="0"/>
          </a:p>
        </p:txBody>
      </p:sp>
      <p:sp>
        <p:nvSpPr>
          <p:cNvPr id="5" name="Text 3"/>
          <p:cNvSpPr txBox="1"/>
          <p:nvPr/>
        </p:nvSpPr>
        <p:spPr>
          <a:xfrm>
            <a:off x="457200" y="1828800"/>
            <a:ext cx="4754880" cy="868680"/>
          </a:xfrm>
          <a:prstGeom prst="rect">
            <a:avLst/>
          </a:prstGeom>
          <a:noFill/>
          <a:ln/>
        </p:spPr>
        <p:txBody>
          <a:bodyPr wrap="square" lIns="0" tIns="0" rIns="0" bIns="0" rtlCol="0" anchor="t"/>
          <a:lstStyle/>
          <a:p>
            <a:pPr indent="0" marL="0">
              <a:buNone/>
            </a:pPr>
            <a:r>
              <a:rPr lang="en-US" sz="1400" dirty="0">
                <a:solidFill>
                  <a:schemeClr val="tx2"/>
                </a:solidFill>
              </a:rPr>
              <a:t>Air-quality monitoring tracks pollutants such as PM2.5, PM10, NO2, SO2, CO, ozone and NH3 through stations placed across Indian cities and states.</a:t>
            </a:r>
            <a:endParaRPr lang="en-US" sz="1400" dirty="0"/>
          </a:p>
        </p:txBody>
      </p:sp>
      <p:sp>
        <p:nvSpPr>
          <p:cNvPr id="6" name="Text 4"/>
          <p:cNvSpPr txBox="1"/>
          <p:nvPr/>
        </p:nvSpPr>
        <p:spPr>
          <a:xfrm>
            <a:off x="457200" y="2788920"/>
            <a:ext cx="4754880" cy="320040"/>
          </a:xfrm>
          <a:prstGeom prst="rect">
            <a:avLst/>
          </a:prstGeom>
          <a:noFill/>
          <a:ln/>
        </p:spPr>
        <p:txBody>
          <a:bodyPr wrap="square" lIns="0" tIns="0" rIns="0" bIns="0" rtlCol="0" anchor="t"/>
          <a:lstStyle/>
          <a:p>
            <a:pPr indent="0" marL="0">
              <a:buNone/>
            </a:pPr>
            <a:r>
              <a:rPr lang="en-US" sz="1600" b="1" dirty="0">
                <a:solidFill>
                  <a:schemeClr val="tx1"/>
                </a:solidFill>
              </a:rPr>
              <a:t>Why data analysis matters here</a:t>
            </a:r>
            <a:endParaRPr lang="en-US" sz="1600" dirty="0"/>
          </a:p>
        </p:txBody>
      </p:sp>
      <p:sp>
        <p:nvSpPr>
          <p:cNvPr id="7" name="Text 5"/>
          <p:cNvSpPr txBox="1"/>
          <p:nvPr/>
        </p:nvSpPr>
        <p:spPr>
          <a:xfrm>
            <a:off x="457200" y="3154680"/>
            <a:ext cx="475488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Turns raw station readings into clear pollution rankings</a:t>
            </a:r>
            <a:endParaRPr lang="en-US" sz="1400" dirty="0"/>
          </a:p>
          <a:p>
            <a:pPr marL="342900" indent="-342900">
              <a:spcAft>
                <a:spcPts val="600"/>
              </a:spcAft>
              <a:buSzPct val="100000"/>
              <a:buChar char="•"/>
            </a:pPr>
            <a:r>
              <a:rPr lang="en-US" sz="1400" dirty="0">
                <a:solidFill>
                  <a:schemeClr val="tx2"/>
                </a:solidFill>
              </a:rPr>
              <a:t>Shows where pollution is worst, so action can be targeted</a:t>
            </a:r>
            <a:endParaRPr lang="en-US" sz="1400" dirty="0"/>
          </a:p>
          <a:p>
            <a:pPr marL="342900" indent="-342900">
              <a:spcAft>
                <a:spcPts val="600"/>
              </a:spcAft>
              <a:buSzPct val="100000"/>
              <a:buChar char="•"/>
            </a:pPr>
            <a:r>
              <a:rPr lang="en-US" sz="1400" dirty="0">
                <a:solidFill>
                  <a:schemeClr val="tx2"/>
                </a:solidFill>
              </a:rPr>
              <a:t>Supports public health warnings and evidence-based policy</a:t>
            </a:r>
            <a:endParaRPr lang="en-US" sz="1400" dirty="0"/>
          </a:p>
        </p:txBody>
      </p:sp>
      <p:sp>
        <p:nvSpPr>
          <p:cNvPr id="8" name="stat-card-1"/>
          <p:cNvSpPr/>
          <p:nvPr/>
        </p:nvSpPr>
        <p:spPr>
          <a:xfrm>
            <a:off x="5760720" y="1097280"/>
            <a:ext cx="2926080" cy="1005840"/>
          </a:xfrm>
          <a:prstGeom prst="rect">
            <a:avLst/>
          </a:prstGeom>
          <a:solidFill>
            <a:schemeClr val="bg2"/>
          </a:solidFill>
          <a:ln w="12700">
            <a:solidFill>
              <a:schemeClr val="bg2"/>
            </a:solidFill>
            <a:prstDash val="solid"/>
          </a:ln>
        </p:spPr>
      </p:sp>
      <p:sp>
        <p:nvSpPr>
          <p:cNvPr id="9" name="Text 7"/>
          <p:cNvSpPr txBox="1"/>
          <p:nvPr/>
        </p:nvSpPr>
        <p:spPr>
          <a:xfrm>
            <a:off x="5943600" y="1097280"/>
            <a:ext cx="118872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31</a:t>
            </a:r>
            <a:endParaRPr lang="en-US" sz="4000" dirty="0"/>
          </a:p>
        </p:txBody>
      </p:sp>
      <p:sp>
        <p:nvSpPr>
          <p:cNvPr id="10" name="Text 8"/>
          <p:cNvSpPr txBox="1"/>
          <p:nvPr/>
        </p:nvSpPr>
        <p:spPr>
          <a:xfrm>
            <a:off x="7178040" y="1097280"/>
            <a:ext cx="1417320" cy="1005840"/>
          </a:xfrm>
          <a:prstGeom prst="rect">
            <a:avLst/>
          </a:prstGeom>
          <a:noFill/>
          <a:ln/>
        </p:spPr>
        <p:txBody>
          <a:bodyPr wrap="square" lIns="0" tIns="0" rIns="0" bIns="0" rtlCol="0" anchor="ctr"/>
          <a:lstStyle/>
          <a:p>
            <a:pPr indent="0" marL="0">
              <a:buNone/>
            </a:pPr>
            <a:r>
              <a:rPr lang="en-US" sz="1400" dirty="0">
                <a:solidFill>
                  <a:schemeClr val="tx2"/>
                </a:solidFill>
              </a:rPr>
              <a:t>states / UTs in the raw data</a:t>
            </a:r>
            <a:endParaRPr lang="en-US" sz="1400" dirty="0"/>
          </a:p>
        </p:txBody>
      </p:sp>
      <p:sp>
        <p:nvSpPr>
          <p:cNvPr id="11" name="stat-card-2"/>
          <p:cNvSpPr/>
          <p:nvPr/>
        </p:nvSpPr>
        <p:spPr>
          <a:xfrm>
            <a:off x="5760720" y="2240280"/>
            <a:ext cx="2926080" cy="1005840"/>
          </a:xfrm>
          <a:prstGeom prst="rect">
            <a:avLst/>
          </a:prstGeom>
          <a:solidFill>
            <a:schemeClr val="bg2"/>
          </a:solidFill>
          <a:ln w="12700">
            <a:solidFill>
              <a:schemeClr val="bg2"/>
            </a:solidFill>
            <a:prstDash val="solid"/>
          </a:ln>
        </p:spPr>
      </p:sp>
      <p:sp>
        <p:nvSpPr>
          <p:cNvPr id="12" name="Text 10"/>
          <p:cNvSpPr txBox="1"/>
          <p:nvPr/>
        </p:nvSpPr>
        <p:spPr>
          <a:xfrm>
            <a:off x="5943600" y="2240280"/>
            <a:ext cx="118872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266</a:t>
            </a:r>
            <a:endParaRPr lang="en-US" sz="4000" dirty="0"/>
          </a:p>
        </p:txBody>
      </p:sp>
      <p:sp>
        <p:nvSpPr>
          <p:cNvPr id="13" name="Text 11"/>
          <p:cNvSpPr txBox="1"/>
          <p:nvPr/>
        </p:nvSpPr>
        <p:spPr>
          <a:xfrm>
            <a:off x="7178040" y="2240280"/>
            <a:ext cx="1417320" cy="1005840"/>
          </a:xfrm>
          <a:prstGeom prst="rect">
            <a:avLst/>
          </a:prstGeom>
          <a:noFill/>
          <a:ln/>
        </p:spPr>
        <p:txBody>
          <a:bodyPr wrap="square" lIns="0" tIns="0" rIns="0" bIns="0" rtlCol="0" anchor="ctr"/>
          <a:lstStyle/>
          <a:p>
            <a:pPr indent="0" marL="0">
              <a:buNone/>
            </a:pPr>
            <a:r>
              <a:rPr lang="en-US" sz="1400" dirty="0">
                <a:solidFill>
                  <a:schemeClr val="tx2"/>
                </a:solidFill>
              </a:rPr>
              <a:t>cities covered</a:t>
            </a:r>
            <a:endParaRPr lang="en-US" sz="1400" dirty="0"/>
          </a:p>
        </p:txBody>
      </p:sp>
      <p:sp>
        <p:nvSpPr>
          <p:cNvPr id="14" name="stat-card-3"/>
          <p:cNvSpPr/>
          <p:nvPr/>
        </p:nvSpPr>
        <p:spPr>
          <a:xfrm>
            <a:off x="5760720" y="3383280"/>
            <a:ext cx="2926080" cy="1005840"/>
          </a:xfrm>
          <a:prstGeom prst="rect">
            <a:avLst/>
          </a:prstGeom>
          <a:solidFill>
            <a:schemeClr val="bg2"/>
          </a:solidFill>
          <a:ln w="12700">
            <a:solidFill>
              <a:schemeClr val="bg2"/>
            </a:solidFill>
            <a:prstDash val="solid"/>
          </a:ln>
        </p:spPr>
      </p:sp>
      <p:sp>
        <p:nvSpPr>
          <p:cNvPr id="15" name="Text 13"/>
          <p:cNvSpPr txBox="1"/>
          <p:nvPr/>
        </p:nvSpPr>
        <p:spPr>
          <a:xfrm>
            <a:off x="5943600" y="3383280"/>
            <a:ext cx="1188720" cy="10058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496</a:t>
            </a:r>
            <a:endParaRPr lang="en-US" sz="4000" dirty="0"/>
          </a:p>
        </p:txBody>
      </p:sp>
      <p:sp>
        <p:nvSpPr>
          <p:cNvPr id="16" name="Text 14"/>
          <p:cNvSpPr txBox="1"/>
          <p:nvPr/>
        </p:nvSpPr>
        <p:spPr>
          <a:xfrm>
            <a:off x="7178040" y="3383280"/>
            <a:ext cx="1417320" cy="1005840"/>
          </a:xfrm>
          <a:prstGeom prst="rect">
            <a:avLst/>
          </a:prstGeom>
          <a:noFill/>
          <a:ln/>
        </p:spPr>
        <p:txBody>
          <a:bodyPr wrap="square" lIns="0" tIns="0" rIns="0" bIns="0" rtlCol="0" anchor="ctr"/>
          <a:lstStyle/>
          <a:p>
            <a:pPr indent="0" marL="0">
              <a:buNone/>
            </a:pPr>
            <a:r>
              <a:rPr lang="en-US" sz="1400" dirty="0">
                <a:solidFill>
                  <a:schemeClr val="tx2"/>
                </a:solidFill>
              </a:rPr>
              <a:t>monitoring stations</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Problem Statement</a:t>
            </a:r>
            <a:endParaRPr lang="en-US" sz="3000" dirty="0"/>
          </a:p>
        </p:txBody>
      </p:sp>
      <p:sp>
        <p:nvSpPr>
          <p:cNvPr id="3" name="problem-card-1"/>
          <p:cNvSpPr/>
          <p:nvPr/>
        </p:nvSpPr>
        <p:spPr>
          <a:xfrm>
            <a:off x="457200" y="1143000"/>
            <a:ext cx="2651760" cy="3383280"/>
          </a:xfrm>
          <a:prstGeom prst="rect">
            <a:avLst/>
          </a:prstGeom>
          <a:solidFill>
            <a:schemeClr val="bg2"/>
          </a:solidFill>
          <a:ln w="12700">
            <a:solidFill>
              <a:schemeClr val="bg2"/>
            </a:solidFill>
            <a:prstDash val="solid"/>
          </a:ln>
        </p:spPr>
      </p:sp>
      <p:sp>
        <p:nvSpPr>
          <p:cNvPr id="4" name="num-1"/>
          <p:cNvSpPr/>
          <p:nvPr/>
        </p:nvSpPr>
        <p:spPr>
          <a:xfrm>
            <a:off x="640080" y="13258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640080" y="1325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640080" y="1920240"/>
            <a:ext cx="2286000" cy="365760"/>
          </a:xfrm>
          <a:prstGeom prst="rect">
            <a:avLst/>
          </a:prstGeom>
          <a:noFill/>
          <a:ln/>
        </p:spPr>
        <p:txBody>
          <a:bodyPr wrap="square" lIns="0" tIns="0" rIns="0" bIns="0" rtlCol="0" anchor="t"/>
          <a:lstStyle/>
          <a:p>
            <a:pPr indent="0" marL="0">
              <a:buNone/>
            </a:pPr>
            <a:r>
              <a:rPr lang="en-US" sz="1700" b="1" dirty="0">
                <a:solidFill>
                  <a:schemeClr val="tx1"/>
                </a:solidFill>
              </a:rPr>
              <a:t>The problem</a:t>
            </a:r>
            <a:endParaRPr lang="en-US" sz="1700" dirty="0"/>
          </a:p>
        </p:txBody>
      </p:sp>
      <p:sp>
        <p:nvSpPr>
          <p:cNvPr id="7" name="Text 5"/>
          <p:cNvSpPr txBox="1"/>
          <p:nvPr/>
        </p:nvSpPr>
        <p:spPr>
          <a:xfrm>
            <a:off x="640080" y="2331720"/>
            <a:ext cx="2286000" cy="2103120"/>
          </a:xfrm>
          <a:prstGeom prst="rect">
            <a:avLst/>
          </a:prstGeom>
          <a:noFill/>
          <a:ln/>
        </p:spPr>
        <p:txBody>
          <a:bodyPr wrap="square" lIns="0" tIns="0" rIns="0" bIns="0" rtlCol="0" anchor="t"/>
          <a:lstStyle/>
          <a:p>
            <a:pPr indent="0" marL="0">
              <a:buNone/>
            </a:pPr>
            <a:r>
              <a:rPr lang="en-US" sz="1400" dirty="0">
                <a:solidFill>
                  <a:schemeClr val="tx2"/>
                </a:solidFill>
              </a:rPr>
              <a:t>Readings from monitoring stations across India sit in thousands of rows. It is unclear which states and cities carry the heaviest PM2.5 and PM10 pollution.</a:t>
            </a:r>
            <a:endParaRPr lang="en-US" sz="1400" dirty="0"/>
          </a:p>
        </p:txBody>
      </p:sp>
      <p:sp>
        <p:nvSpPr>
          <p:cNvPr id="8" name="problem-card-2"/>
          <p:cNvSpPr/>
          <p:nvPr/>
        </p:nvSpPr>
        <p:spPr>
          <a:xfrm>
            <a:off x="3291840" y="1143000"/>
            <a:ext cx="2651760" cy="3383280"/>
          </a:xfrm>
          <a:prstGeom prst="rect">
            <a:avLst/>
          </a:prstGeom>
          <a:solidFill>
            <a:schemeClr val="bg2"/>
          </a:solidFill>
          <a:ln w="12700">
            <a:solidFill>
              <a:schemeClr val="bg2"/>
            </a:solidFill>
            <a:prstDash val="solid"/>
          </a:ln>
        </p:spPr>
      </p:sp>
      <p:sp>
        <p:nvSpPr>
          <p:cNvPr id="9" name="num-2"/>
          <p:cNvSpPr/>
          <p:nvPr/>
        </p:nvSpPr>
        <p:spPr>
          <a:xfrm>
            <a:off x="3474720" y="132588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3474720" y="1325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474720" y="1920240"/>
            <a:ext cx="2286000" cy="365760"/>
          </a:xfrm>
          <a:prstGeom prst="rect">
            <a:avLst/>
          </a:prstGeom>
          <a:noFill/>
          <a:ln/>
        </p:spPr>
        <p:txBody>
          <a:bodyPr wrap="square" lIns="0" tIns="0" rIns="0" bIns="0" rtlCol="0" anchor="t"/>
          <a:lstStyle/>
          <a:p>
            <a:pPr indent="0" marL="0">
              <a:buNone/>
            </a:pPr>
            <a:r>
              <a:rPr lang="en-US" sz="1700" b="1" dirty="0">
                <a:solidFill>
                  <a:schemeClr val="tx1"/>
                </a:solidFill>
              </a:rPr>
              <a:t>Why it is important</a:t>
            </a:r>
            <a:endParaRPr lang="en-US" sz="1700" dirty="0"/>
          </a:p>
        </p:txBody>
      </p:sp>
      <p:sp>
        <p:nvSpPr>
          <p:cNvPr id="12" name="Text 10"/>
          <p:cNvSpPr txBox="1"/>
          <p:nvPr/>
        </p:nvSpPr>
        <p:spPr>
          <a:xfrm>
            <a:off x="3474720" y="2331720"/>
            <a:ext cx="2286000" cy="2103120"/>
          </a:xfrm>
          <a:prstGeom prst="rect">
            <a:avLst/>
          </a:prstGeom>
          <a:noFill/>
          <a:ln/>
        </p:spPr>
        <p:txBody>
          <a:bodyPr wrap="square" lIns="0" tIns="0" rIns="0" bIns="0" rtlCol="0" anchor="t"/>
          <a:lstStyle/>
          <a:p>
            <a:pPr indent="0" marL="0">
              <a:buNone/>
            </a:pPr>
            <a:r>
              <a:rPr lang="en-US" sz="1400" dirty="0">
                <a:solidFill>
                  <a:schemeClr val="tx2"/>
                </a:solidFill>
              </a:rPr>
              <a:t>In this dataset the average PM2.5 reading is 175, and 73.4% of PM2.5 readings are above 90, the "Poor" band used in this project. Without analysis the hotspots stay hidden.</a:t>
            </a:r>
            <a:endParaRPr lang="en-US" sz="1400" dirty="0"/>
          </a:p>
        </p:txBody>
      </p:sp>
      <p:sp>
        <p:nvSpPr>
          <p:cNvPr id="13" name="problem-card-3"/>
          <p:cNvSpPr/>
          <p:nvPr/>
        </p:nvSpPr>
        <p:spPr>
          <a:xfrm>
            <a:off x="6126480" y="1143000"/>
            <a:ext cx="2651760" cy="3383280"/>
          </a:xfrm>
          <a:prstGeom prst="rect">
            <a:avLst/>
          </a:prstGeom>
          <a:solidFill>
            <a:schemeClr val="bg2"/>
          </a:solidFill>
          <a:ln w="12700">
            <a:solidFill>
              <a:schemeClr val="bg2"/>
            </a:solidFill>
            <a:prstDash val="solid"/>
          </a:ln>
        </p:spPr>
      </p:sp>
      <p:sp>
        <p:nvSpPr>
          <p:cNvPr id="14" name="num-3"/>
          <p:cNvSpPr/>
          <p:nvPr/>
        </p:nvSpPr>
        <p:spPr>
          <a:xfrm>
            <a:off x="6309360" y="1325880"/>
            <a:ext cx="457200" cy="457200"/>
          </a:xfrm>
          <a:prstGeom prst="ellipse">
            <a:avLst/>
          </a:prstGeom>
          <a:solidFill>
            <a:schemeClr val="accent4"/>
          </a:solidFill>
          <a:ln w="12700">
            <a:solidFill>
              <a:schemeClr val="accent4"/>
            </a:solidFill>
            <a:prstDash val="solid"/>
          </a:ln>
        </p:spPr>
      </p:sp>
      <p:sp>
        <p:nvSpPr>
          <p:cNvPr id="15" name="Text 13"/>
          <p:cNvSpPr txBox="1"/>
          <p:nvPr/>
        </p:nvSpPr>
        <p:spPr>
          <a:xfrm>
            <a:off x="6309360" y="1325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309360" y="1920240"/>
            <a:ext cx="2286000" cy="365760"/>
          </a:xfrm>
          <a:prstGeom prst="rect">
            <a:avLst/>
          </a:prstGeom>
          <a:noFill/>
          <a:ln/>
        </p:spPr>
        <p:txBody>
          <a:bodyPr wrap="square" lIns="0" tIns="0" rIns="0" bIns="0" rtlCol="0" anchor="t"/>
          <a:lstStyle/>
          <a:p>
            <a:pPr indent="0" marL="0">
              <a:buNone/>
            </a:pPr>
            <a:r>
              <a:rPr lang="en-US" sz="1700" b="1" dirty="0">
                <a:solidFill>
                  <a:schemeClr val="tx1"/>
                </a:solidFill>
              </a:rPr>
              <a:t>Who is affected</a:t>
            </a:r>
            <a:endParaRPr lang="en-US" sz="1700" dirty="0"/>
          </a:p>
        </p:txBody>
      </p:sp>
      <p:sp>
        <p:nvSpPr>
          <p:cNvPr id="17" name="Text 15"/>
          <p:cNvSpPr txBox="1"/>
          <p:nvPr/>
        </p:nvSpPr>
        <p:spPr>
          <a:xfrm>
            <a:off x="6309360" y="2331720"/>
            <a:ext cx="2286000" cy="2103120"/>
          </a:xfrm>
          <a:prstGeom prst="rect">
            <a:avLst/>
          </a:prstGeom>
          <a:noFill/>
          <a:ln/>
        </p:spPr>
        <p:txBody>
          <a:bodyPr wrap="square" lIns="0" tIns="0" rIns="0" bIns="0" rtlCol="0" anchor="t"/>
          <a:lstStyle/>
          <a:p>
            <a:pPr indent="0" marL="0">
              <a:buNone/>
            </a:pPr>
            <a:r>
              <a:rPr lang="en-US" sz="1400" dirty="0">
                <a:solidFill>
                  <a:schemeClr val="tx2"/>
                </a:solidFill>
              </a:rPr>
              <a:t>Residents of high-pollution cities, especially children, older adults and people with breathing problems, plus the authorities who must decide where to act first.</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Project Objectives</a:t>
            </a:r>
            <a:endParaRPr lang="en-US" sz="3000" dirty="0"/>
          </a:p>
        </p:txBody>
      </p:sp>
      <p:sp>
        <p:nvSpPr>
          <p:cNvPr id="3" name="objective-card-1"/>
          <p:cNvSpPr/>
          <p:nvPr/>
        </p:nvSpPr>
        <p:spPr>
          <a:xfrm>
            <a:off x="457200" y="1143000"/>
            <a:ext cx="8229600" cy="566928"/>
          </a:xfrm>
          <a:prstGeom prst="rect">
            <a:avLst/>
          </a:prstGeom>
          <a:solidFill>
            <a:schemeClr val="bg2"/>
          </a:solidFill>
          <a:ln w="12700">
            <a:solidFill>
              <a:schemeClr val="bg2"/>
            </a:solidFill>
            <a:prstDash val="solid"/>
          </a:ln>
        </p:spPr>
      </p:sp>
      <p:sp>
        <p:nvSpPr>
          <p:cNvPr id="4" name="num-1"/>
          <p:cNvSpPr/>
          <p:nvPr/>
        </p:nvSpPr>
        <p:spPr>
          <a:xfrm>
            <a:off x="594360" y="1225296"/>
            <a:ext cx="402336" cy="402336"/>
          </a:xfrm>
          <a:prstGeom prst="ellipse">
            <a:avLst/>
          </a:prstGeom>
          <a:solidFill>
            <a:schemeClr val="accent1"/>
          </a:solidFill>
          <a:ln w="12700">
            <a:solidFill>
              <a:schemeClr val="accent1"/>
            </a:solidFill>
            <a:prstDash val="solid"/>
          </a:ln>
        </p:spPr>
      </p:sp>
      <p:sp>
        <p:nvSpPr>
          <p:cNvPr id="5" name="Text 3"/>
          <p:cNvSpPr txBox="1"/>
          <p:nvPr/>
        </p:nvSpPr>
        <p:spPr>
          <a:xfrm>
            <a:off x="594360" y="122529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143000"/>
            <a:ext cx="7315200" cy="566928"/>
          </a:xfrm>
          <a:prstGeom prst="rect">
            <a:avLst/>
          </a:prstGeom>
          <a:noFill/>
          <a:ln/>
        </p:spPr>
        <p:txBody>
          <a:bodyPr wrap="square" lIns="0" tIns="0" rIns="0" bIns="0" rtlCol="0" anchor="ctr"/>
          <a:lstStyle/>
          <a:p>
            <a:pPr indent="0" marL="0">
              <a:buNone/>
            </a:pPr>
            <a:r>
              <a:rPr lang="en-US" sz="1600" dirty="0">
                <a:solidFill>
                  <a:schemeClr val="tx1"/>
                </a:solidFill>
              </a:rPr>
              <a:t>Load, inspect and clean the raw air-quality dataset</a:t>
            </a:r>
            <a:endParaRPr lang="en-US" sz="1600" dirty="0"/>
          </a:p>
        </p:txBody>
      </p:sp>
      <p:sp>
        <p:nvSpPr>
          <p:cNvPr id="7" name="objective-card-2"/>
          <p:cNvSpPr/>
          <p:nvPr/>
        </p:nvSpPr>
        <p:spPr>
          <a:xfrm>
            <a:off x="457200" y="1819656"/>
            <a:ext cx="8229600" cy="566928"/>
          </a:xfrm>
          <a:prstGeom prst="rect">
            <a:avLst/>
          </a:prstGeom>
          <a:solidFill>
            <a:schemeClr val="bg2"/>
          </a:solidFill>
          <a:ln w="12700">
            <a:solidFill>
              <a:schemeClr val="bg2"/>
            </a:solidFill>
            <a:prstDash val="solid"/>
          </a:ln>
        </p:spPr>
      </p:sp>
      <p:sp>
        <p:nvSpPr>
          <p:cNvPr id="8" name="num-2"/>
          <p:cNvSpPr/>
          <p:nvPr/>
        </p:nvSpPr>
        <p:spPr>
          <a:xfrm>
            <a:off x="594360" y="1901952"/>
            <a:ext cx="402336" cy="402336"/>
          </a:xfrm>
          <a:prstGeom prst="ellipse">
            <a:avLst/>
          </a:prstGeom>
          <a:solidFill>
            <a:schemeClr val="accent1"/>
          </a:solidFill>
          <a:ln w="12700">
            <a:solidFill>
              <a:schemeClr val="accent1"/>
            </a:solidFill>
            <a:prstDash val="solid"/>
          </a:ln>
        </p:spPr>
      </p:sp>
      <p:sp>
        <p:nvSpPr>
          <p:cNvPr id="9" name="Text 7"/>
          <p:cNvSpPr txBox="1"/>
          <p:nvPr/>
        </p:nvSpPr>
        <p:spPr>
          <a:xfrm>
            <a:off x="594360" y="190195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234440" y="1819656"/>
            <a:ext cx="7315200" cy="566928"/>
          </a:xfrm>
          <a:prstGeom prst="rect">
            <a:avLst/>
          </a:prstGeom>
          <a:noFill/>
          <a:ln/>
        </p:spPr>
        <p:txBody>
          <a:bodyPr wrap="square" lIns="0" tIns="0" rIns="0" bIns="0" rtlCol="0" anchor="ctr"/>
          <a:lstStyle/>
          <a:p>
            <a:pPr indent="0" marL="0">
              <a:buNone/>
            </a:pPr>
            <a:r>
              <a:rPr lang="en-US" sz="1600" dirty="0">
                <a:solidFill>
                  <a:schemeClr val="tx1"/>
                </a:solidFill>
              </a:rPr>
              <a:t>Calculate summary statistics and the average value of each pollutant</a:t>
            </a:r>
            <a:endParaRPr lang="en-US" sz="1600" dirty="0"/>
          </a:p>
        </p:txBody>
      </p:sp>
      <p:sp>
        <p:nvSpPr>
          <p:cNvPr id="11" name="objective-card-3"/>
          <p:cNvSpPr/>
          <p:nvPr/>
        </p:nvSpPr>
        <p:spPr>
          <a:xfrm>
            <a:off x="457200" y="2496312"/>
            <a:ext cx="8229600" cy="566928"/>
          </a:xfrm>
          <a:prstGeom prst="rect">
            <a:avLst/>
          </a:prstGeom>
          <a:solidFill>
            <a:schemeClr val="bg2"/>
          </a:solidFill>
          <a:ln w="12700">
            <a:solidFill>
              <a:schemeClr val="bg2"/>
            </a:solidFill>
            <a:prstDash val="solid"/>
          </a:ln>
        </p:spPr>
      </p:sp>
      <p:sp>
        <p:nvSpPr>
          <p:cNvPr id="12" name="num-3"/>
          <p:cNvSpPr/>
          <p:nvPr/>
        </p:nvSpPr>
        <p:spPr>
          <a:xfrm>
            <a:off x="594360" y="2578608"/>
            <a:ext cx="402336" cy="402336"/>
          </a:xfrm>
          <a:prstGeom prst="ellipse">
            <a:avLst/>
          </a:prstGeom>
          <a:solidFill>
            <a:schemeClr val="accent1"/>
          </a:solidFill>
          <a:ln w="12700">
            <a:solidFill>
              <a:schemeClr val="accent1"/>
            </a:solidFill>
            <a:prstDash val="solid"/>
          </a:ln>
        </p:spPr>
      </p:sp>
      <p:sp>
        <p:nvSpPr>
          <p:cNvPr id="13" name="Text 11"/>
          <p:cNvSpPr txBox="1"/>
          <p:nvPr/>
        </p:nvSpPr>
        <p:spPr>
          <a:xfrm>
            <a:off x="594360" y="257860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234440" y="2496312"/>
            <a:ext cx="7315200" cy="566928"/>
          </a:xfrm>
          <a:prstGeom prst="rect">
            <a:avLst/>
          </a:prstGeom>
          <a:noFill/>
          <a:ln/>
        </p:spPr>
        <p:txBody>
          <a:bodyPr wrap="square" lIns="0" tIns="0" rIns="0" bIns="0" rtlCol="0" anchor="ctr"/>
          <a:lstStyle/>
          <a:p>
            <a:pPr indent="0" marL="0">
              <a:buNone/>
            </a:pPr>
            <a:r>
              <a:rPr lang="en-US" sz="1600" dirty="0">
                <a:solidFill>
                  <a:schemeClr val="tx1"/>
                </a:solidFill>
              </a:rPr>
              <a:t>Rank the top 10 states and cities by average PM2.5</a:t>
            </a:r>
            <a:endParaRPr lang="en-US" sz="1600" dirty="0"/>
          </a:p>
        </p:txBody>
      </p:sp>
      <p:sp>
        <p:nvSpPr>
          <p:cNvPr id="15" name="objective-card-4"/>
          <p:cNvSpPr/>
          <p:nvPr/>
        </p:nvSpPr>
        <p:spPr>
          <a:xfrm>
            <a:off x="457200" y="3172968"/>
            <a:ext cx="8229600" cy="566928"/>
          </a:xfrm>
          <a:prstGeom prst="rect">
            <a:avLst/>
          </a:prstGeom>
          <a:solidFill>
            <a:schemeClr val="bg2"/>
          </a:solidFill>
          <a:ln w="12700">
            <a:solidFill>
              <a:schemeClr val="bg2"/>
            </a:solidFill>
            <a:prstDash val="solid"/>
          </a:ln>
        </p:spPr>
      </p:sp>
      <p:sp>
        <p:nvSpPr>
          <p:cNvPr id="16" name="num-4"/>
          <p:cNvSpPr/>
          <p:nvPr/>
        </p:nvSpPr>
        <p:spPr>
          <a:xfrm>
            <a:off x="594360" y="3255264"/>
            <a:ext cx="402336" cy="402336"/>
          </a:xfrm>
          <a:prstGeom prst="ellipse">
            <a:avLst/>
          </a:prstGeom>
          <a:solidFill>
            <a:schemeClr val="accent2"/>
          </a:solidFill>
          <a:ln w="12700">
            <a:solidFill>
              <a:schemeClr val="accent2"/>
            </a:solidFill>
            <a:prstDash val="solid"/>
          </a:ln>
        </p:spPr>
      </p:sp>
      <p:sp>
        <p:nvSpPr>
          <p:cNvPr id="17" name="Text 15"/>
          <p:cNvSpPr txBox="1"/>
          <p:nvPr/>
        </p:nvSpPr>
        <p:spPr>
          <a:xfrm>
            <a:off x="594360" y="325526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1234440" y="3172968"/>
            <a:ext cx="7315200" cy="566928"/>
          </a:xfrm>
          <a:prstGeom prst="rect">
            <a:avLst/>
          </a:prstGeom>
          <a:noFill/>
          <a:ln/>
        </p:spPr>
        <p:txBody>
          <a:bodyPr wrap="square" lIns="0" tIns="0" rIns="0" bIns="0" rtlCol="0" anchor="ctr"/>
          <a:lstStyle/>
          <a:p>
            <a:pPr indent="0" marL="0">
              <a:buNone/>
            </a:pPr>
            <a:r>
              <a:rPr lang="en-US" sz="1600" dirty="0">
                <a:solidFill>
                  <a:schemeClr val="tx1"/>
                </a:solidFill>
              </a:rPr>
              <a:t>Measure the share of PM2.5 readings in the "Poor" band (above 90)</a:t>
            </a:r>
            <a:endParaRPr lang="en-US" sz="1600" dirty="0"/>
          </a:p>
        </p:txBody>
      </p:sp>
      <p:sp>
        <p:nvSpPr>
          <p:cNvPr id="19" name="objective-card-5"/>
          <p:cNvSpPr/>
          <p:nvPr/>
        </p:nvSpPr>
        <p:spPr>
          <a:xfrm>
            <a:off x="457200" y="3849624"/>
            <a:ext cx="8229600" cy="566928"/>
          </a:xfrm>
          <a:prstGeom prst="rect">
            <a:avLst/>
          </a:prstGeom>
          <a:solidFill>
            <a:schemeClr val="bg2"/>
          </a:solidFill>
          <a:ln w="12700">
            <a:solidFill>
              <a:schemeClr val="bg2"/>
            </a:solidFill>
            <a:prstDash val="solid"/>
          </a:ln>
        </p:spPr>
      </p:sp>
      <p:sp>
        <p:nvSpPr>
          <p:cNvPr id="20" name="num-5"/>
          <p:cNvSpPr/>
          <p:nvPr/>
        </p:nvSpPr>
        <p:spPr>
          <a:xfrm>
            <a:off x="594360" y="3931920"/>
            <a:ext cx="402336" cy="402336"/>
          </a:xfrm>
          <a:prstGeom prst="ellipse">
            <a:avLst/>
          </a:prstGeom>
          <a:solidFill>
            <a:schemeClr val="accent1"/>
          </a:solidFill>
          <a:ln w="12700">
            <a:solidFill>
              <a:schemeClr val="accent1"/>
            </a:solidFill>
            <a:prstDash val="solid"/>
          </a:ln>
        </p:spPr>
      </p:sp>
      <p:sp>
        <p:nvSpPr>
          <p:cNvPr id="21" name="Text 19"/>
          <p:cNvSpPr txBox="1"/>
          <p:nvPr/>
        </p:nvSpPr>
        <p:spPr>
          <a:xfrm>
            <a:off x="594360" y="393192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234440" y="3849624"/>
            <a:ext cx="7315200" cy="566928"/>
          </a:xfrm>
          <a:prstGeom prst="rect">
            <a:avLst/>
          </a:prstGeom>
          <a:noFill/>
          <a:ln/>
        </p:spPr>
        <p:txBody>
          <a:bodyPr wrap="square" lIns="0" tIns="0" rIns="0" bIns="0" rtlCol="0" anchor="ctr"/>
          <a:lstStyle/>
          <a:p>
            <a:pPr indent="0" marL="0">
              <a:buNone/>
            </a:pPr>
            <a:r>
              <a:rPr lang="en-US" sz="1600" dirty="0">
                <a:solidFill>
                  <a:schemeClr val="tx1"/>
                </a:solidFill>
              </a:rPr>
              <a:t>Test the correlation between PM2.5 and PM10 across stations</a:t>
            </a:r>
            <a:endParaRPr lang="en-US" sz="16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Proposed Solution &amp; Analysis Questions</a:t>
            </a:r>
            <a:endParaRPr lang="en-US" sz="3000" dirty="0"/>
          </a:p>
        </p:txBody>
      </p:sp>
      <p:sp>
        <p:nvSpPr>
          <p:cNvPr id="3" name="solution-panel"/>
          <p:cNvSpPr/>
          <p:nvPr/>
        </p:nvSpPr>
        <p:spPr>
          <a:xfrm>
            <a:off x="457200" y="1097280"/>
            <a:ext cx="3931920" cy="3474720"/>
          </a:xfrm>
          <a:prstGeom prst="rect">
            <a:avLst/>
          </a:prstGeom>
          <a:solidFill>
            <a:schemeClr val="bg2"/>
          </a:solidFill>
          <a:ln w="12700">
            <a:solidFill>
              <a:schemeClr val="bg2"/>
            </a:solidFill>
            <a:prstDash val="solid"/>
          </a:ln>
        </p:spPr>
      </p:sp>
      <p:sp>
        <p:nvSpPr>
          <p:cNvPr id="4" name="Text 2"/>
          <p:cNvSpPr txBox="1"/>
          <p:nvPr/>
        </p:nvSpPr>
        <p:spPr>
          <a:xfrm>
            <a:off x="640080" y="1234440"/>
            <a:ext cx="3566160" cy="320040"/>
          </a:xfrm>
          <a:prstGeom prst="rect">
            <a:avLst/>
          </a:prstGeom>
          <a:noFill/>
          <a:ln/>
        </p:spPr>
        <p:txBody>
          <a:bodyPr wrap="square" lIns="0" tIns="0" rIns="0" bIns="0" rtlCol="0" anchor="t"/>
          <a:lstStyle/>
          <a:p>
            <a:pPr indent="0" marL="0">
              <a:buNone/>
            </a:pPr>
            <a:r>
              <a:rPr lang="en-US" sz="1700" b="1" dirty="0">
                <a:solidFill>
                  <a:schemeClr val="tx1"/>
                </a:solidFill>
              </a:rPr>
              <a:t>Proposed solution</a:t>
            </a:r>
            <a:endParaRPr lang="en-US" sz="1700" dirty="0"/>
          </a:p>
        </p:txBody>
      </p:sp>
      <p:sp>
        <p:nvSpPr>
          <p:cNvPr id="5" name="Text 3"/>
          <p:cNvSpPr txBox="1"/>
          <p:nvPr/>
        </p:nvSpPr>
        <p:spPr>
          <a:xfrm>
            <a:off x="640080" y="1627632"/>
            <a:ext cx="3566160" cy="1097280"/>
          </a:xfrm>
          <a:prstGeom prst="rect">
            <a:avLst/>
          </a:prstGeom>
          <a:noFill/>
          <a:ln/>
        </p:spPr>
        <p:txBody>
          <a:bodyPr wrap="square" lIns="0" tIns="0" rIns="0" bIns="0" rtlCol="0" anchor="t"/>
          <a:lstStyle/>
          <a:p>
            <a:pPr indent="0" marL="0">
              <a:buNone/>
            </a:pPr>
            <a:r>
              <a:rPr lang="en-US" sz="1400" dirty="0">
                <a:solidFill>
                  <a:schemeClr val="tx2"/>
                </a:solidFill>
              </a:rPr>
              <a:t>Clean the station readings, summarise and rank them, then chart the results to show which places and pollutants need attention first.</a:t>
            </a:r>
            <a:endParaRPr lang="en-US" sz="1400" dirty="0"/>
          </a:p>
        </p:txBody>
      </p:sp>
      <p:sp>
        <p:nvSpPr>
          <p:cNvPr id="6" name="Text 4"/>
          <p:cNvSpPr txBox="1"/>
          <p:nvPr/>
        </p:nvSpPr>
        <p:spPr>
          <a:xfrm>
            <a:off x="640080" y="2743200"/>
            <a:ext cx="3566160" cy="274320"/>
          </a:xfrm>
          <a:prstGeom prst="rect">
            <a:avLst/>
          </a:prstGeom>
          <a:noFill/>
          <a:ln/>
        </p:spPr>
        <p:txBody>
          <a:bodyPr wrap="square" lIns="0" tIns="0" rIns="0" bIns="0" rtlCol="0" anchor="t"/>
          <a:lstStyle/>
          <a:p>
            <a:pPr indent="0" marL="0">
              <a:buNone/>
            </a:pPr>
            <a:r>
              <a:rPr lang="en-US" sz="1500" b="1" dirty="0">
                <a:solidFill>
                  <a:schemeClr val="accent1"/>
                </a:solidFill>
              </a:rPr>
              <a:t>How Python helps</a:t>
            </a:r>
            <a:endParaRPr lang="en-US" sz="1500" dirty="0"/>
          </a:p>
        </p:txBody>
      </p:sp>
      <p:sp>
        <p:nvSpPr>
          <p:cNvPr id="7" name="Text 5"/>
          <p:cNvSpPr txBox="1"/>
          <p:nvPr/>
        </p:nvSpPr>
        <p:spPr>
          <a:xfrm>
            <a:off x="640080" y="306324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pandas: clean, filter, group, rank</a:t>
            </a:r>
            <a:endParaRPr lang="en-US" sz="1400" dirty="0"/>
          </a:p>
          <a:p>
            <a:pPr marL="342900" indent="-342900">
              <a:spcAft>
                <a:spcPts val="600"/>
              </a:spcAft>
              <a:buSzPct val="100000"/>
              <a:buChar char="•"/>
            </a:pPr>
            <a:r>
              <a:rPr lang="en-US" sz="1400" dirty="0">
                <a:solidFill>
                  <a:schemeClr val="tx2"/>
                </a:solidFill>
              </a:rPr>
              <a:t>NumPy / SciPy: statistics, Pearson r</a:t>
            </a:r>
            <a:endParaRPr lang="en-US" sz="1400" dirty="0"/>
          </a:p>
          <a:p>
            <a:pPr marL="342900" indent="-342900">
              <a:spcAft>
                <a:spcPts val="600"/>
              </a:spcAft>
              <a:buSzPct val="100000"/>
              <a:buChar char="•"/>
            </a:pPr>
            <a:r>
              <a:rPr lang="en-US" sz="1400" dirty="0">
                <a:solidFill>
                  <a:schemeClr val="tx2"/>
                </a:solidFill>
              </a:rPr>
              <a:t>Matplotlib: charts that expose hotspots</a:t>
            </a:r>
            <a:endParaRPr lang="en-US" sz="1400" dirty="0"/>
          </a:p>
        </p:txBody>
      </p:sp>
      <p:sp>
        <p:nvSpPr>
          <p:cNvPr id="8" name="Text 6"/>
          <p:cNvSpPr txBox="1"/>
          <p:nvPr/>
        </p:nvSpPr>
        <p:spPr>
          <a:xfrm>
            <a:off x="4754880" y="1097280"/>
            <a:ext cx="3931920" cy="320040"/>
          </a:xfrm>
          <a:prstGeom prst="rect">
            <a:avLst/>
          </a:prstGeom>
          <a:noFill/>
          <a:ln/>
        </p:spPr>
        <p:txBody>
          <a:bodyPr wrap="square" lIns="0" tIns="0" rIns="0" bIns="0" rtlCol="0" anchor="t"/>
          <a:lstStyle/>
          <a:p>
            <a:pPr indent="0" marL="0">
              <a:buNone/>
            </a:pPr>
            <a:r>
              <a:rPr lang="en-US" sz="1700" b="1" dirty="0">
                <a:solidFill>
                  <a:schemeClr val="tx1"/>
                </a:solidFill>
              </a:rPr>
              <a:t>Analysis questions</a:t>
            </a:r>
            <a:endParaRPr lang="en-US" sz="1700" dirty="0"/>
          </a:p>
        </p:txBody>
      </p:sp>
      <p:sp>
        <p:nvSpPr>
          <p:cNvPr id="9" name="num-1"/>
          <p:cNvSpPr/>
          <p:nvPr/>
        </p:nvSpPr>
        <p:spPr>
          <a:xfrm>
            <a:off x="4754880" y="1545336"/>
            <a:ext cx="347472" cy="347472"/>
          </a:xfrm>
          <a:prstGeom prst="ellipse">
            <a:avLst/>
          </a:prstGeom>
          <a:solidFill>
            <a:schemeClr val="accent3"/>
          </a:solidFill>
          <a:ln w="12700">
            <a:solidFill>
              <a:schemeClr val="accent3"/>
            </a:solidFill>
            <a:prstDash val="solid"/>
          </a:ln>
        </p:spPr>
      </p:sp>
      <p:sp>
        <p:nvSpPr>
          <p:cNvPr id="10" name="Text 8"/>
          <p:cNvSpPr txBox="1"/>
          <p:nvPr/>
        </p:nvSpPr>
        <p:spPr>
          <a:xfrm>
            <a:off x="4754880" y="1545336"/>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1" name="Text 9"/>
          <p:cNvSpPr txBox="1"/>
          <p:nvPr/>
        </p:nvSpPr>
        <p:spPr>
          <a:xfrm>
            <a:off x="5212080" y="1508760"/>
            <a:ext cx="3474720" cy="457200"/>
          </a:xfrm>
          <a:prstGeom prst="rect">
            <a:avLst/>
          </a:prstGeom>
          <a:noFill/>
          <a:ln/>
        </p:spPr>
        <p:txBody>
          <a:bodyPr wrap="square" lIns="0" tIns="0" rIns="0" bIns="0" rtlCol="0" anchor="ctr"/>
          <a:lstStyle/>
          <a:p>
            <a:pPr indent="0" marL="0">
              <a:buNone/>
            </a:pPr>
            <a:r>
              <a:rPr lang="en-US" sz="1400" dirty="0">
                <a:solidFill>
                  <a:schemeClr val="tx2"/>
                </a:solidFill>
              </a:rPr>
              <a:t>How many readings exist per pollutant, and what is each one's average?</a:t>
            </a:r>
            <a:endParaRPr lang="en-US" sz="1400" dirty="0"/>
          </a:p>
        </p:txBody>
      </p:sp>
      <p:sp>
        <p:nvSpPr>
          <p:cNvPr id="12" name="num-2"/>
          <p:cNvSpPr/>
          <p:nvPr/>
        </p:nvSpPr>
        <p:spPr>
          <a:xfrm>
            <a:off x="4754880" y="2057400"/>
            <a:ext cx="347472" cy="347472"/>
          </a:xfrm>
          <a:prstGeom prst="ellipse">
            <a:avLst/>
          </a:prstGeom>
          <a:solidFill>
            <a:schemeClr val="accent3"/>
          </a:solidFill>
          <a:ln w="12700">
            <a:solidFill>
              <a:schemeClr val="accent3"/>
            </a:solidFill>
            <a:prstDash val="solid"/>
          </a:ln>
        </p:spPr>
      </p:sp>
      <p:sp>
        <p:nvSpPr>
          <p:cNvPr id="13" name="Text 11"/>
          <p:cNvSpPr txBox="1"/>
          <p:nvPr/>
        </p:nvSpPr>
        <p:spPr>
          <a:xfrm>
            <a:off x="4754880" y="2057400"/>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4" name="Text 12"/>
          <p:cNvSpPr txBox="1"/>
          <p:nvPr/>
        </p:nvSpPr>
        <p:spPr>
          <a:xfrm>
            <a:off x="5212080" y="2020824"/>
            <a:ext cx="3474720" cy="457200"/>
          </a:xfrm>
          <a:prstGeom prst="rect">
            <a:avLst/>
          </a:prstGeom>
          <a:noFill/>
          <a:ln/>
        </p:spPr>
        <p:txBody>
          <a:bodyPr wrap="square" lIns="0" tIns="0" rIns="0" bIns="0" rtlCol="0" anchor="ctr"/>
          <a:lstStyle/>
          <a:p>
            <a:pPr indent="0" marL="0">
              <a:buNone/>
            </a:pPr>
            <a:r>
              <a:rPr lang="en-US" sz="1400" dirty="0">
                <a:solidFill>
                  <a:schemeClr val="tx2"/>
                </a:solidFill>
              </a:rPr>
              <a:t>Which 10 states have the highest average PM2.5?</a:t>
            </a:r>
            <a:endParaRPr lang="en-US" sz="1400" dirty="0"/>
          </a:p>
        </p:txBody>
      </p:sp>
      <p:sp>
        <p:nvSpPr>
          <p:cNvPr id="15" name="num-3"/>
          <p:cNvSpPr/>
          <p:nvPr/>
        </p:nvSpPr>
        <p:spPr>
          <a:xfrm>
            <a:off x="4754880" y="2569464"/>
            <a:ext cx="347472" cy="347472"/>
          </a:xfrm>
          <a:prstGeom prst="ellipse">
            <a:avLst/>
          </a:prstGeom>
          <a:solidFill>
            <a:schemeClr val="accent3"/>
          </a:solidFill>
          <a:ln w="12700">
            <a:solidFill>
              <a:schemeClr val="accent3"/>
            </a:solidFill>
            <a:prstDash val="solid"/>
          </a:ln>
        </p:spPr>
      </p:sp>
      <p:sp>
        <p:nvSpPr>
          <p:cNvPr id="16" name="Text 14"/>
          <p:cNvSpPr txBox="1"/>
          <p:nvPr/>
        </p:nvSpPr>
        <p:spPr>
          <a:xfrm>
            <a:off x="4754880" y="2569464"/>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7" name="Text 15"/>
          <p:cNvSpPr txBox="1"/>
          <p:nvPr/>
        </p:nvSpPr>
        <p:spPr>
          <a:xfrm>
            <a:off x="5212080" y="2532888"/>
            <a:ext cx="3474720" cy="457200"/>
          </a:xfrm>
          <a:prstGeom prst="rect">
            <a:avLst/>
          </a:prstGeom>
          <a:noFill/>
          <a:ln/>
        </p:spPr>
        <p:txBody>
          <a:bodyPr wrap="square" lIns="0" tIns="0" rIns="0" bIns="0" rtlCol="0" anchor="ctr"/>
          <a:lstStyle/>
          <a:p>
            <a:pPr indent="0" marL="0">
              <a:buNone/>
            </a:pPr>
            <a:r>
              <a:rPr lang="en-US" sz="1400" dirty="0">
                <a:solidFill>
                  <a:schemeClr val="tx2"/>
                </a:solidFill>
              </a:rPr>
              <a:t>Which 10 cities have the highest average PM2.5?</a:t>
            </a:r>
            <a:endParaRPr lang="en-US" sz="1400" dirty="0"/>
          </a:p>
        </p:txBody>
      </p:sp>
      <p:sp>
        <p:nvSpPr>
          <p:cNvPr id="18" name="num-4"/>
          <p:cNvSpPr/>
          <p:nvPr/>
        </p:nvSpPr>
        <p:spPr>
          <a:xfrm>
            <a:off x="4754880" y="3081528"/>
            <a:ext cx="347472" cy="347472"/>
          </a:xfrm>
          <a:prstGeom prst="ellipse">
            <a:avLst/>
          </a:prstGeom>
          <a:solidFill>
            <a:schemeClr val="accent3"/>
          </a:solidFill>
          <a:ln w="12700">
            <a:solidFill>
              <a:schemeClr val="accent3"/>
            </a:solidFill>
            <a:prstDash val="solid"/>
          </a:ln>
        </p:spPr>
      </p:sp>
      <p:sp>
        <p:nvSpPr>
          <p:cNvPr id="19" name="Text 17"/>
          <p:cNvSpPr txBox="1"/>
          <p:nvPr/>
        </p:nvSpPr>
        <p:spPr>
          <a:xfrm>
            <a:off x="4754880" y="3081528"/>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0" name="Text 18"/>
          <p:cNvSpPr txBox="1"/>
          <p:nvPr/>
        </p:nvSpPr>
        <p:spPr>
          <a:xfrm>
            <a:off x="5212080" y="3044952"/>
            <a:ext cx="3474720" cy="457200"/>
          </a:xfrm>
          <a:prstGeom prst="rect">
            <a:avLst/>
          </a:prstGeom>
          <a:noFill/>
          <a:ln/>
        </p:spPr>
        <p:txBody>
          <a:bodyPr wrap="square" lIns="0" tIns="0" rIns="0" bIns="0" rtlCol="0" anchor="ctr"/>
          <a:lstStyle/>
          <a:p>
            <a:pPr indent="0" marL="0">
              <a:buNone/>
            </a:pPr>
            <a:r>
              <a:rPr lang="en-US" sz="1400" dirty="0">
                <a:solidFill>
                  <a:schemeClr val="tx2"/>
                </a:solidFill>
              </a:rPr>
              <a:t>What share of PM2.5 readings is above 90?</a:t>
            </a:r>
            <a:endParaRPr lang="en-US" sz="1400" dirty="0"/>
          </a:p>
        </p:txBody>
      </p:sp>
      <p:sp>
        <p:nvSpPr>
          <p:cNvPr id="21" name="num-5"/>
          <p:cNvSpPr/>
          <p:nvPr/>
        </p:nvSpPr>
        <p:spPr>
          <a:xfrm>
            <a:off x="4754880" y="3593592"/>
            <a:ext cx="347472" cy="347472"/>
          </a:xfrm>
          <a:prstGeom prst="ellipse">
            <a:avLst/>
          </a:prstGeom>
          <a:solidFill>
            <a:schemeClr val="accent3"/>
          </a:solidFill>
          <a:ln w="12700">
            <a:solidFill>
              <a:schemeClr val="accent3"/>
            </a:solidFill>
            <a:prstDash val="solid"/>
          </a:ln>
        </p:spPr>
      </p:sp>
      <p:sp>
        <p:nvSpPr>
          <p:cNvPr id="22" name="Text 20"/>
          <p:cNvSpPr txBox="1"/>
          <p:nvPr/>
        </p:nvSpPr>
        <p:spPr>
          <a:xfrm>
            <a:off x="4754880" y="3593592"/>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3" name="Text 21"/>
          <p:cNvSpPr txBox="1"/>
          <p:nvPr/>
        </p:nvSpPr>
        <p:spPr>
          <a:xfrm>
            <a:off x="5212080" y="3557016"/>
            <a:ext cx="3474720" cy="457200"/>
          </a:xfrm>
          <a:prstGeom prst="rect">
            <a:avLst/>
          </a:prstGeom>
          <a:noFill/>
          <a:ln/>
        </p:spPr>
        <p:txBody>
          <a:bodyPr wrap="square" lIns="0" tIns="0" rIns="0" bIns="0" rtlCol="0" anchor="ctr"/>
          <a:lstStyle/>
          <a:p>
            <a:pPr indent="0" marL="0">
              <a:buNone/>
            </a:pPr>
            <a:r>
              <a:rPr lang="en-US" sz="1400" dirty="0">
                <a:solidFill>
                  <a:schemeClr val="tx2"/>
                </a:solidFill>
              </a:rPr>
              <a:t>How are PM2.5 readings distributed?</a:t>
            </a:r>
            <a:endParaRPr lang="en-US" sz="1400" dirty="0"/>
          </a:p>
        </p:txBody>
      </p:sp>
      <p:sp>
        <p:nvSpPr>
          <p:cNvPr id="24" name="num-6"/>
          <p:cNvSpPr/>
          <p:nvPr/>
        </p:nvSpPr>
        <p:spPr>
          <a:xfrm>
            <a:off x="4754880" y="4105656"/>
            <a:ext cx="347472" cy="347472"/>
          </a:xfrm>
          <a:prstGeom prst="ellipse">
            <a:avLst/>
          </a:prstGeom>
          <a:solidFill>
            <a:schemeClr val="accent3"/>
          </a:solidFill>
          <a:ln w="12700">
            <a:solidFill>
              <a:schemeClr val="accent3"/>
            </a:solidFill>
            <a:prstDash val="solid"/>
          </a:ln>
        </p:spPr>
      </p:sp>
      <p:sp>
        <p:nvSpPr>
          <p:cNvPr id="25" name="Text 23"/>
          <p:cNvSpPr txBox="1"/>
          <p:nvPr/>
        </p:nvSpPr>
        <p:spPr>
          <a:xfrm>
            <a:off x="4754880" y="4105656"/>
            <a:ext cx="347472" cy="34747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6" name="Text 24"/>
          <p:cNvSpPr txBox="1"/>
          <p:nvPr/>
        </p:nvSpPr>
        <p:spPr>
          <a:xfrm>
            <a:off x="5212080" y="4069080"/>
            <a:ext cx="3474720" cy="457200"/>
          </a:xfrm>
          <a:prstGeom prst="rect">
            <a:avLst/>
          </a:prstGeom>
          <a:noFill/>
          <a:ln/>
        </p:spPr>
        <p:txBody>
          <a:bodyPr wrap="square" lIns="0" tIns="0" rIns="0" bIns="0" rtlCol="0" anchor="ctr"/>
          <a:lstStyle/>
          <a:p>
            <a:pPr indent="0" marL="0">
              <a:buNone/>
            </a:pPr>
            <a:r>
              <a:rPr lang="en-US" sz="1400" dirty="0">
                <a:solidFill>
                  <a:schemeClr val="tx2"/>
                </a:solidFill>
              </a:rPr>
              <a:t>How strongly are PM2.5 and PM10 related?</a:t>
            </a:r>
            <a:endParaRPr lang="en-US" sz="14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Dataset Information</a:t>
            </a:r>
            <a:endParaRPr lang="en-US" sz="3000" dirty="0"/>
          </a:p>
        </p:txBody>
      </p:sp>
      <p:graphicFrame>
        <p:nvGraphicFramePr>
          <p:cNvPr id="7" name="dataset-table"/>
          <p:cNvGraphicFramePr>
            <a:graphicFrameLocks noGrp="1"/>
          </p:cNvGraphicFramePr>
          <p:nvPr>
            <p:extLst>
              <p:ext uri="{D42A27DB-BD31-4B8C-83A1-F6EECF244321}">
                <p14:modId xmlns:p14="http://schemas.microsoft.com/office/powerpoint/2010/main" val="1579011935"/>
              </p:ext>
            </p:extLst>
          </p:nvPr>
        </p:nvGraphicFramePr>
        <p:xfrm>
          <a:off x="457200" y="1097280"/>
          <a:ext cx="5212080" cy="914400"/>
        </p:xfrm>
        <a:graphic>
          <a:graphicData uri="http://schemas.openxmlformats.org/drawingml/2006/table">
            <a:tbl>
              <a:tblPr/>
              <a:tblGrid>
                <a:gridCol w="1280160"/>
                <a:gridCol w="3931920"/>
              </a:tblGrid>
              <a:tr h="411480">
                <a:tc>
                  <a:txBody>
                    <a:bodyPr/>
                    <a:lstStyle/>
                    <a:p>
                      <a:pPr indent="0" marL="0">
                        <a:buNone/>
                      </a:pPr>
                      <a:r>
                        <a:rPr lang="en-US" sz="1400" b="1" dirty="0">
                          <a:solidFill>
                            <a:schemeClr val="tx1"/>
                          </a:solidFill>
                        </a:rPr>
                        <a:t>Dataset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rPr>
                        <a:t>Air Quality Data (Snapshot of Jan 30, 2024)</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indent="0" marL="0">
                        <a:buNone/>
                      </a:pPr>
                      <a:r>
                        <a:rPr lang="en-US" sz="1400" b="1" dirty="0">
                          <a:solidFill>
                            <a:schemeClr val="tx1"/>
                          </a:solidFill>
                        </a:rPr>
                        <a:t>Source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rPr>
                        <a:t>Open Government Data Portal (data.gov.in)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400" b="1" dirty="0">
                          <a:solidFill>
                            <a:schemeClr val="tx1"/>
                          </a:solidFill>
                        </a:rPr>
                        <a:t>Rows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rPr>
                        <a:t>3,314 raw  →  3,093 after cleaning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indent="0" marL="0">
                        <a:buNone/>
                      </a:pPr>
                      <a:r>
                        <a:rPr lang="en-US" sz="1400" b="1" dirty="0">
                          <a:solidFill>
                            <a:schemeClr val="tx1"/>
                          </a:solidFill>
                        </a:rPr>
                        <a:t>Columns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rPr>
                        <a:t>11 raw  →  10 after cleaning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400" b="1" dirty="0">
                          <a:solidFill>
                            <a:schemeClr val="tx1"/>
                          </a:solidFill>
                        </a:rPr>
                        <a:t>File format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rPr>
                        <a:t>CSV</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indent="0" marL="0">
                        <a:buNone/>
                      </a:pPr>
                      <a:r>
                        <a:rPr lang="en-US" sz="1400" b="1" dirty="0">
                          <a:solidFill>
                            <a:schemeClr val="tx1"/>
                          </a:solidFill>
                        </a:rPr>
                        <a:t>Coverage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rPr>
                        <a:t>31 states / UTs, 266 cities, 496 stations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85800">
                <a:tc>
                  <a:txBody>
                    <a:bodyPr/>
                    <a:lstStyle/>
                    <a:p>
                      <a:pPr indent="0" marL="0">
                        <a:buNone/>
                      </a:pPr>
                      <a:r>
                        <a:rPr lang="en-US" sz="1400" b="1" dirty="0">
                          <a:solidFill>
                            <a:schemeClr val="tx1"/>
                          </a:solidFill>
                        </a:rPr>
                        <a:t>Content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rPr>
                        <a:t>One row per station and pollutant, with min, max and average reading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ext 1"/>
          <p:cNvSpPr txBox="1"/>
          <p:nvPr/>
        </p:nvSpPr>
        <p:spPr>
          <a:xfrm>
            <a:off x="5989320" y="1097280"/>
            <a:ext cx="2697480" cy="320040"/>
          </a:xfrm>
          <a:prstGeom prst="rect">
            <a:avLst/>
          </a:prstGeom>
          <a:noFill/>
          <a:ln/>
        </p:spPr>
        <p:txBody>
          <a:bodyPr wrap="square" lIns="0" tIns="0" rIns="0" bIns="0" rtlCol="0" anchor="t"/>
          <a:lstStyle/>
          <a:p>
            <a:pPr indent="0" marL="0">
              <a:buNone/>
            </a:pPr>
            <a:r>
              <a:rPr lang="en-US" sz="1600" b="1" dirty="0">
                <a:solidFill>
                  <a:schemeClr val="tx1"/>
                </a:solidFill>
              </a:rPr>
              <a:t>Important columns</a:t>
            </a:r>
            <a:endParaRPr lang="en-US" sz="1600" dirty="0"/>
          </a:p>
        </p:txBody>
      </p:sp>
      <p:sp>
        <p:nvSpPr>
          <p:cNvPr id="5" name="col-chip-1"/>
          <p:cNvSpPr/>
          <p:nvPr/>
        </p:nvSpPr>
        <p:spPr>
          <a:xfrm>
            <a:off x="5989320" y="1508760"/>
            <a:ext cx="2011680" cy="237744"/>
          </a:xfrm>
          <a:prstGeom prst="roundRect">
            <a:avLst>
              <a:gd name="adj" fmla="val 30769"/>
            </a:avLst>
          </a:prstGeom>
          <a:solidFill>
            <a:schemeClr val="bg2"/>
          </a:solidFill>
          <a:ln w="12700">
            <a:solidFill>
              <a:schemeClr val="bg2"/>
            </a:solidFill>
            <a:prstDash val="solid"/>
          </a:ln>
        </p:spPr>
      </p:sp>
      <p:sp>
        <p:nvSpPr>
          <p:cNvPr id="6" name="Text 3"/>
          <p:cNvSpPr txBox="1"/>
          <p:nvPr/>
        </p:nvSpPr>
        <p:spPr>
          <a:xfrm>
            <a:off x="5989320" y="150876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state</a:t>
            </a:r>
            <a:endParaRPr lang="en-US" sz="1100" dirty="0"/>
          </a:p>
        </p:txBody>
      </p:sp>
      <p:sp>
        <p:nvSpPr>
          <p:cNvPr id="7" name="col-chip-2"/>
          <p:cNvSpPr/>
          <p:nvPr/>
        </p:nvSpPr>
        <p:spPr>
          <a:xfrm>
            <a:off x="5989320" y="1783080"/>
            <a:ext cx="2011680" cy="237744"/>
          </a:xfrm>
          <a:prstGeom prst="roundRect">
            <a:avLst>
              <a:gd name="adj" fmla="val 30769"/>
            </a:avLst>
          </a:prstGeom>
          <a:solidFill>
            <a:schemeClr val="bg2"/>
          </a:solidFill>
          <a:ln w="12700">
            <a:solidFill>
              <a:schemeClr val="bg2"/>
            </a:solidFill>
            <a:prstDash val="solid"/>
          </a:ln>
        </p:spPr>
      </p:sp>
      <p:sp>
        <p:nvSpPr>
          <p:cNvPr id="8" name="Text 5"/>
          <p:cNvSpPr txBox="1"/>
          <p:nvPr/>
        </p:nvSpPr>
        <p:spPr>
          <a:xfrm>
            <a:off x="5989320" y="178308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city</a:t>
            </a:r>
            <a:endParaRPr lang="en-US" sz="1100" dirty="0"/>
          </a:p>
        </p:txBody>
      </p:sp>
      <p:sp>
        <p:nvSpPr>
          <p:cNvPr id="9" name="col-chip-3"/>
          <p:cNvSpPr/>
          <p:nvPr/>
        </p:nvSpPr>
        <p:spPr>
          <a:xfrm>
            <a:off x="5989320" y="2057400"/>
            <a:ext cx="2011680" cy="237744"/>
          </a:xfrm>
          <a:prstGeom prst="roundRect">
            <a:avLst>
              <a:gd name="adj" fmla="val 30769"/>
            </a:avLst>
          </a:prstGeom>
          <a:solidFill>
            <a:schemeClr val="bg2"/>
          </a:solidFill>
          <a:ln w="12700">
            <a:solidFill>
              <a:schemeClr val="bg2"/>
            </a:solidFill>
            <a:prstDash val="solid"/>
          </a:ln>
        </p:spPr>
      </p:sp>
      <p:sp>
        <p:nvSpPr>
          <p:cNvPr id="10" name="Text 7"/>
          <p:cNvSpPr txBox="1"/>
          <p:nvPr/>
        </p:nvSpPr>
        <p:spPr>
          <a:xfrm>
            <a:off x="5989320" y="205740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station</a:t>
            </a:r>
            <a:endParaRPr lang="en-US" sz="1100" dirty="0"/>
          </a:p>
        </p:txBody>
      </p:sp>
      <p:sp>
        <p:nvSpPr>
          <p:cNvPr id="11" name="col-chip-4"/>
          <p:cNvSpPr/>
          <p:nvPr/>
        </p:nvSpPr>
        <p:spPr>
          <a:xfrm>
            <a:off x="5989320" y="2331720"/>
            <a:ext cx="2011680" cy="237744"/>
          </a:xfrm>
          <a:prstGeom prst="roundRect">
            <a:avLst>
              <a:gd name="adj" fmla="val 30769"/>
            </a:avLst>
          </a:prstGeom>
          <a:solidFill>
            <a:schemeClr val="bg2"/>
          </a:solidFill>
          <a:ln w="12700">
            <a:solidFill>
              <a:schemeClr val="bg2"/>
            </a:solidFill>
            <a:prstDash val="solid"/>
          </a:ln>
        </p:spPr>
      </p:sp>
      <p:sp>
        <p:nvSpPr>
          <p:cNvPr id="12" name="Text 9"/>
          <p:cNvSpPr txBox="1"/>
          <p:nvPr/>
        </p:nvSpPr>
        <p:spPr>
          <a:xfrm>
            <a:off x="5989320" y="233172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last_update</a:t>
            </a:r>
            <a:endParaRPr lang="en-US" sz="1100" dirty="0"/>
          </a:p>
        </p:txBody>
      </p:sp>
      <p:sp>
        <p:nvSpPr>
          <p:cNvPr id="13" name="col-chip-5"/>
          <p:cNvSpPr/>
          <p:nvPr/>
        </p:nvSpPr>
        <p:spPr>
          <a:xfrm>
            <a:off x="5989320" y="2606040"/>
            <a:ext cx="2011680" cy="237744"/>
          </a:xfrm>
          <a:prstGeom prst="roundRect">
            <a:avLst>
              <a:gd name="adj" fmla="val 30769"/>
            </a:avLst>
          </a:prstGeom>
          <a:solidFill>
            <a:schemeClr val="bg2"/>
          </a:solidFill>
          <a:ln w="12700">
            <a:solidFill>
              <a:schemeClr val="bg2"/>
            </a:solidFill>
            <a:prstDash val="solid"/>
          </a:ln>
        </p:spPr>
      </p:sp>
      <p:sp>
        <p:nvSpPr>
          <p:cNvPr id="14" name="Text 11"/>
          <p:cNvSpPr txBox="1"/>
          <p:nvPr/>
        </p:nvSpPr>
        <p:spPr>
          <a:xfrm>
            <a:off x="5989320" y="260604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latitude</a:t>
            </a:r>
            <a:endParaRPr lang="en-US" sz="1100" dirty="0"/>
          </a:p>
        </p:txBody>
      </p:sp>
      <p:sp>
        <p:nvSpPr>
          <p:cNvPr id="15" name="col-chip-6"/>
          <p:cNvSpPr/>
          <p:nvPr/>
        </p:nvSpPr>
        <p:spPr>
          <a:xfrm>
            <a:off x="5989320" y="2880360"/>
            <a:ext cx="2011680" cy="237744"/>
          </a:xfrm>
          <a:prstGeom prst="roundRect">
            <a:avLst>
              <a:gd name="adj" fmla="val 30769"/>
            </a:avLst>
          </a:prstGeom>
          <a:solidFill>
            <a:schemeClr val="bg2"/>
          </a:solidFill>
          <a:ln w="12700">
            <a:solidFill>
              <a:schemeClr val="bg2"/>
            </a:solidFill>
            <a:prstDash val="solid"/>
          </a:ln>
        </p:spPr>
      </p:sp>
      <p:sp>
        <p:nvSpPr>
          <p:cNvPr id="16" name="Text 13"/>
          <p:cNvSpPr txBox="1"/>
          <p:nvPr/>
        </p:nvSpPr>
        <p:spPr>
          <a:xfrm>
            <a:off x="5989320" y="288036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longitude</a:t>
            </a:r>
            <a:endParaRPr lang="en-US" sz="1100" dirty="0"/>
          </a:p>
        </p:txBody>
      </p:sp>
      <p:sp>
        <p:nvSpPr>
          <p:cNvPr id="17" name="col-chip-7"/>
          <p:cNvSpPr/>
          <p:nvPr/>
        </p:nvSpPr>
        <p:spPr>
          <a:xfrm>
            <a:off x="5989320" y="3154680"/>
            <a:ext cx="2011680" cy="237744"/>
          </a:xfrm>
          <a:prstGeom prst="roundRect">
            <a:avLst>
              <a:gd name="adj" fmla="val 30769"/>
            </a:avLst>
          </a:prstGeom>
          <a:solidFill>
            <a:schemeClr val="accent1"/>
          </a:solidFill>
          <a:ln w="12700">
            <a:solidFill>
              <a:schemeClr val="accent1"/>
            </a:solidFill>
            <a:prstDash val="solid"/>
          </a:ln>
        </p:spPr>
      </p:sp>
      <p:sp>
        <p:nvSpPr>
          <p:cNvPr id="18" name="Text 15"/>
          <p:cNvSpPr txBox="1"/>
          <p:nvPr/>
        </p:nvSpPr>
        <p:spPr>
          <a:xfrm>
            <a:off x="5989320" y="3154680"/>
            <a:ext cx="2011680" cy="237744"/>
          </a:xfrm>
          <a:prstGeom prst="rect">
            <a:avLst/>
          </a:prstGeom>
          <a:noFill/>
          <a:ln/>
        </p:spPr>
        <p:txBody>
          <a:bodyPr wrap="square" lIns="0" tIns="0" rIns="0" bIns="0" rtlCol="0" anchor="ctr"/>
          <a:lstStyle/>
          <a:p>
            <a:pPr algn="ctr" indent="0" marL="0">
              <a:buNone/>
            </a:pPr>
            <a:r>
              <a:rPr lang="en-US" sz="1100" b="1" dirty="0">
                <a:solidFill>
                  <a:schemeClr val="bg1"/>
                </a:solidFill>
              </a:rPr>
              <a:t>pollutant_id</a:t>
            </a:r>
            <a:endParaRPr lang="en-US" sz="1100" dirty="0"/>
          </a:p>
        </p:txBody>
      </p:sp>
      <p:sp>
        <p:nvSpPr>
          <p:cNvPr id="19" name="col-chip-8"/>
          <p:cNvSpPr/>
          <p:nvPr/>
        </p:nvSpPr>
        <p:spPr>
          <a:xfrm>
            <a:off x="5989320" y="3429000"/>
            <a:ext cx="2011680" cy="237744"/>
          </a:xfrm>
          <a:prstGeom prst="roundRect">
            <a:avLst>
              <a:gd name="adj" fmla="val 30769"/>
            </a:avLst>
          </a:prstGeom>
          <a:solidFill>
            <a:schemeClr val="accent1"/>
          </a:solidFill>
          <a:ln w="12700">
            <a:solidFill>
              <a:schemeClr val="accent1"/>
            </a:solidFill>
            <a:prstDash val="solid"/>
          </a:ln>
        </p:spPr>
      </p:sp>
      <p:sp>
        <p:nvSpPr>
          <p:cNvPr id="20" name="Text 17"/>
          <p:cNvSpPr txBox="1"/>
          <p:nvPr/>
        </p:nvSpPr>
        <p:spPr>
          <a:xfrm>
            <a:off x="5989320" y="3429000"/>
            <a:ext cx="2011680" cy="237744"/>
          </a:xfrm>
          <a:prstGeom prst="rect">
            <a:avLst/>
          </a:prstGeom>
          <a:noFill/>
          <a:ln/>
        </p:spPr>
        <p:txBody>
          <a:bodyPr wrap="square" lIns="0" tIns="0" rIns="0" bIns="0" rtlCol="0" anchor="ctr"/>
          <a:lstStyle/>
          <a:p>
            <a:pPr algn="ctr" indent="0" marL="0">
              <a:buNone/>
            </a:pPr>
            <a:r>
              <a:rPr lang="en-US" sz="1100" b="1" dirty="0">
                <a:solidFill>
                  <a:schemeClr val="bg1"/>
                </a:solidFill>
              </a:rPr>
              <a:t>pollutant_min</a:t>
            </a:r>
            <a:endParaRPr lang="en-US" sz="1100" dirty="0"/>
          </a:p>
        </p:txBody>
      </p:sp>
      <p:sp>
        <p:nvSpPr>
          <p:cNvPr id="21" name="col-chip-9"/>
          <p:cNvSpPr/>
          <p:nvPr/>
        </p:nvSpPr>
        <p:spPr>
          <a:xfrm>
            <a:off x="5989320" y="3703320"/>
            <a:ext cx="2011680" cy="237744"/>
          </a:xfrm>
          <a:prstGeom prst="roundRect">
            <a:avLst>
              <a:gd name="adj" fmla="val 30769"/>
            </a:avLst>
          </a:prstGeom>
          <a:solidFill>
            <a:schemeClr val="accent1"/>
          </a:solidFill>
          <a:ln w="12700">
            <a:solidFill>
              <a:schemeClr val="accent1"/>
            </a:solidFill>
            <a:prstDash val="solid"/>
          </a:ln>
        </p:spPr>
      </p:sp>
      <p:sp>
        <p:nvSpPr>
          <p:cNvPr id="22" name="Text 19"/>
          <p:cNvSpPr txBox="1"/>
          <p:nvPr/>
        </p:nvSpPr>
        <p:spPr>
          <a:xfrm>
            <a:off x="5989320" y="3703320"/>
            <a:ext cx="2011680" cy="237744"/>
          </a:xfrm>
          <a:prstGeom prst="rect">
            <a:avLst/>
          </a:prstGeom>
          <a:noFill/>
          <a:ln/>
        </p:spPr>
        <p:txBody>
          <a:bodyPr wrap="square" lIns="0" tIns="0" rIns="0" bIns="0" rtlCol="0" anchor="ctr"/>
          <a:lstStyle/>
          <a:p>
            <a:pPr algn="ctr" indent="0" marL="0">
              <a:buNone/>
            </a:pPr>
            <a:r>
              <a:rPr lang="en-US" sz="1100" b="1" dirty="0">
                <a:solidFill>
                  <a:schemeClr val="bg1"/>
                </a:solidFill>
              </a:rPr>
              <a:t>pollutant_max</a:t>
            </a:r>
            <a:endParaRPr lang="en-US" sz="1100" dirty="0"/>
          </a:p>
        </p:txBody>
      </p:sp>
      <p:sp>
        <p:nvSpPr>
          <p:cNvPr id="23" name="col-chip-10"/>
          <p:cNvSpPr/>
          <p:nvPr/>
        </p:nvSpPr>
        <p:spPr>
          <a:xfrm>
            <a:off x="5989320" y="3977640"/>
            <a:ext cx="2011680" cy="237744"/>
          </a:xfrm>
          <a:prstGeom prst="roundRect">
            <a:avLst>
              <a:gd name="adj" fmla="val 30769"/>
            </a:avLst>
          </a:prstGeom>
          <a:solidFill>
            <a:schemeClr val="accent1"/>
          </a:solidFill>
          <a:ln w="12700">
            <a:solidFill>
              <a:schemeClr val="accent1"/>
            </a:solidFill>
            <a:prstDash val="solid"/>
          </a:ln>
        </p:spPr>
      </p:sp>
      <p:sp>
        <p:nvSpPr>
          <p:cNvPr id="24" name="Text 21"/>
          <p:cNvSpPr txBox="1"/>
          <p:nvPr/>
        </p:nvSpPr>
        <p:spPr>
          <a:xfrm>
            <a:off x="5989320" y="3977640"/>
            <a:ext cx="2011680" cy="237744"/>
          </a:xfrm>
          <a:prstGeom prst="rect">
            <a:avLst/>
          </a:prstGeom>
          <a:noFill/>
          <a:ln/>
        </p:spPr>
        <p:txBody>
          <a:bodyPr wrap="square" lIns="0" tIns="0" rIns="0" bIns="0" rtlCol="0" anchor="ctr"/>
          <a:lstStyle/>
          <a:p>
            <a:pPr algn="ctr" indent="0" marL="0">
              <a:buNone/>
            </a:pPr>
            <a:r>
              <a:rPr lang="en-US" sz="1100" b="1" dirty="0">
                <a:solidFill>
                  <a:schemeClr val="bg1"/>
                </a:solidFill>
              </a:rPr>
              <a:t>pollutant_avg</a:t>
            </a:r>
            <a:endParaRPr lang="en-US" sz="1100" dirty="0"/>
          </a:p>
        </p:txBody>
      </p:sp>
      <p:sp>
        <p:nvSpPr>
          <p:cNvPr id="25" name="col-chip-11"/>
          <p:cNvSpPr/>
          <p:nvPr/>
        </p:nvSpPr>
        <p:spPr>
          <a:xfrm>
            <a:off x="5989320" y="4251960"/>
            <a:ext cx="2011680" cy="237744"/>
          </a:xfrm>
          <a:prstGeom prst="roundRect">
            <a:avLst>
              <a:gd name="adj" fmla="val 30769"/>
            </a:avLst>
          </a:prstGeom>
          <a:solidFill>
            <a:schemeClr val="bg2"/>
          </a:solidFill>
          <a:ln w="12700">
            <a:solidFill>
              <a:schemeClr val="bg2"/>
            </a:solidFill>
            <a:prstDash val="solid"/>
          </a:ln>
        </p:spPr>
      </p:sp>
      <p:sp>
        <p:nvSpPr>
          <p:cNvPr id="26" name="Text 23"/>
          <p:cNvSpPr txBox="1"/>
          <p:nvPr/>
        </p:nvSpPr>
        <p:spPr>
          <a:xfrm>
            <a:off x="5989320" y="4251960"/>
            <a:ext cx="2011680" cy="237744"/>
          </a:xfrm>
          <a:prstGeom prst="rect">
            <a:avLst/>
          </a:prstGeom>
          <a:noFill/>
          <a:ln/>
        </p:spPr>
        <p:txBody>
          <a:bodyPr wrap="square" lIns="0" tIns="0" rIns="0" bIns="0" rtlCol="0" anchor="ctr"/>
          <a:lstStyle/>
          <a:p>
            <a:pPr algn="ctr" indent="0" marL="0">
              <a:buNone/>
            </a:pPr>
            <a:r>
              <a:rPr lang="en-US" sz="1100" b="1" dirty="0">
                <a:solidFill>
                  <a:schemeClr val="tx1"/>
                </a:solidFill>
              </a:rPr>
              <a:t>country*</a:t>
            </a:r>
            <a:endParaRPr lang="en-US" sz="1100" dirty="0"/>
          </a:p>
        </p:txBody>
      </p:sp>
      <p:sp>
        <p:nvSpPr>
          <p:cNvPr id="27" name="Text 24"/>
          <p:cNvSpPr txBox="1"/>
          <p:nvPr/>
        </p:nvSpPr>
        <p:spPr>
          <a:xfrm>
            <a:off x="5989320" y="4544568"/>
            <a:ext cx="2697480" cy="228600"/>
          </a:xfrm>
          <a:prstGeom prst="rect">
            <a:avLst/>
          </a:prstGeom>
          <a:noFill/>
          <a:ln/>
        </p:spPr>
        <p:txBody>
          <a:bodyPr wrap="square" lIns="0" tIns="0" rIns="0" bIns="0" rtlCol="0" anchor="t"/>
          <a:lstStyle/>
          <a:p>
            <a:pPr indent="0" marL="0">
              <a:buNone/>
            </a:pPr>
            <a:r>
              <a:rPr lang="en-US" sz="1000" dirty="0">
                <a:solidFill>
                  <a:schemeClr val="accent4"/>
                </a:solidFill>
              </a:rPr>
              <a:t>* dropped in cleaning (always "India")</a:t>
            </a:r>
            <a:endParaRPr lang="en-US" sz="1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Data Collection &amp; Understanding</a:t>
            </a:r>
            <a:endParaRPr lang="en-US" sz="3000" dirty="0"/>
          </a:p>
        </p:txBody>
      </p:sp>
      <p:sp>
        <p:nvSpPr>
          <p:cNvPr id="3" name="Text 1"/>
          <p:cNvSpPr txBox="1"/>
          <p:nvPr/>
        </p:nvSpPr>
        <p:spPr>
          <a:xfrm>
            <a:off x="457200" y="1097280"/>
            <a:ext cx="274320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Downloaded as a CSV snapshot from data.gov.in</a:t>
            </a:r>
            <a:endParaRPr lang="en-US" sz="1400" dirty="0"/>
          </a:p>
          <a:p>
            <a:pPr marL="342900" indent="-342900">
              <a:spcAft>
                <a:spcPts val="600"/>
              </a:spcAft>
              <a:buSzPct val="100000"/>
              <a:buChar char="•"/>
            </a:pPr>
            <a:r>
              <a:rPr lang="en-US" sz="1400" dirty="0">
                <a:solidFill>
                  <a:schemeClr val="tx2"/>
                </a:solidFill>
              </a:rPr>
              <a:t>Loaded with pd.read_csv: 3,314 rows, 11 columns</a:t>
            </a:r>
            <a:endParaRPr lang="en-US" sz="1400" dirty="0"/>
          </a:p>
          <a:p>
            <a:pPr marL="342900" indent="-342900">
              <a:spcAft>
                <a:spcPts val="600"/>
              </a:spcAft>
              <a:buSzPct val="100000"/>
              <a:buChar char="•"/>
            </a:pPr>
            <a:r>
              <a:rPr lang="en-US" sz="1400" dirty="0">
                <a:solidFill>
                  <a:schemeClr val="tx2"/>
                </a:solidFill>
              </a:rPr>
              <a:t>6 text columns and 5 numeric (lat, long, min, max, avg)</a:t>
            </a:r>
            <a:endParaRPr lang="en-US" sz="1400" dirty="0"/>
          </a:p>
          <a:p>
            <a:pPr marL="342900" indent="-342900">
              <a:spcAft>
                <a:spcPts val="600"/>
              </a:spcAft>
              <a:buSzPct val="100000"/>
              <a:buChar char="•"/>
            </a:pPr>
            <a:r>
              <a:rPr lang="en-US" sz="1400" dirty="0">
                <a:solidFill>
                  <a:schemeClr val="tx2"/>
                </a:solidFill>
              </a:rPr>
              <a:t>221 rows have no min, max or avg value</a:t>
            </a:r>
            <a:endParaRPr lang="en-US" sz="1400" dirty="0"/>
          </a:p>
          <a:p>
            <a:pPr marL="342900" indent="-342900">
              <a:spcAft>
                <a:spcPts val="600"/>
              </a:spcAft>
              <a:buSzPct val="100000"/>
              <a:buChar char="•"/>
            </a:pPr>
            <a:r>
              <a:rPr lang="en-US" sz="1400" dirty="0">
                <a:solidFill>
                  <a:schemeClr val="tx2"/>
                </a:solidFill>
              </a:rPr>
              <a:t>0 duplicate rows</a:t>
            </a:r>
            <a:endParaRPr lang="en-US" sz="1400" dirty="0"/>
          </a:p>
          <a:p>
            <a:pPr marL="342900" indent="-342900">
              <a:spcAft>
                <a:spcPts val="600"/>
              </a:spcAft>
              <a:buSzPct val="100000"/>
              <a:buChar char="•"/>
            </a:pPr>
            <a:r>
              <a:rPr lang="en-US" sz="1400" dirty="0">
                <a:solidFill>
                  <a:schemeClr val="tx2"/>
                </a:solidFill>
              </a:rPr>
              <a:t>7 pollutants across 31 states</a:t>
            </a:r>
            <a:endParaRPr lang="en-US" sz="1400" dirty="0"/>
          </a:p>
        </p:txBody>
      </p:sp>
      <p:pic>
        <p:nvPicPr>
          <p:cNvPr id="4" name="shot-info" descr="Jupyter output of df.info()">    </p:cNvPr>
          <p:cNvPicPr>
            <a:picLocks noChangeAspect="1"/>
          </p:cNvPicPr>
          <p:nvPr/>
        </p:nvPicPr>
        <p:blipFill>
          <a:blip r:embed="rId1"/>
          <a:stretch>
            <a:fillRect/>
          </a:stretch>
        </p:blipFill>
        <p:spPr>
          <a:xfrm>
            <a:off x="3291840" y="1097280"/>
            <a:ext cx="2926080" cy="2207029"/>
          </a:xfrm>
          <a:prstGeom prst="rect">
            <a:avLst/>
          </a:prstGeom>
        </p:spPr>
      </p:pic>
      <p:pic>
        <p:nvPicPr>
          <p:cNvPr id="5" name="shot-counts" descr="Jupyter output of missing values, unique counts and duplicates">    </p:cNvPr>
          <p:cNvPicPr>
            <a:picLocks noChangeAspect="1"/>
          </p:cNvPicPr>
          <p:nvPr/>
        </p:nvPicPr>
        <p:blipFill>
          <a:blip r:embed="rId2"/>
          <a:stretch>
            <a:fillRect/>
          </a:stretch>
        </p:blipFill>
        <p:spPr>
          <a:xfrm>
            <a:off x="6309360" y="1097280"/>
            <a:ext cx="2423160" cy="2207029"/>
          </a:xfrm>
          <a:prstGeom prst="rect">
            <a:avLst/>
          </a:prstGeom>
        </p:spPr>
      </p:pic>
      <p:sp>
        <p:nvSpPr>
          <p:cNvPr id="6" name="Text 2"/>
          <p:cNvSpPr txBox="1"/>
          <p:nvPr/>
        </p:nvSpPr>
        <p:spPr>
          <a:xfrm>
            <a:off x="3337560" y="3383280"/>
            <a:ext cx="5303520" cy="228600"/>
          </a:xfrm>
          <a:prstGeom prst="rect">
            <a:avLst/>
          </a:prstGeom>
          <a:noFill/>
          <a:ln/>
        </p:spPr>
        <p:txBody>
          <a:bodyPr wrap="square" lIns="0" tIns="0" rIns="0" bIns="0" rtlCol="0" anchor="t"/>
          <a:lstStyle/>
          <a:p>
            <a:pPr indent="0" marL="0">
              <a:buNone/>
            </a:pPr>
            <a:r>
              <a:rPr lang="en-US" sz="1000" dirty="0">
                <a:solidFill>
                  <a:schemeClr val="accent4"/>
                </a:solidFill>
              </a:rPr>
              <a:t>Jupyter output: data types, missing values, duplicates</a:t>
            </a:r>
            <a:endParaRPr lang="en-US" sz="1000" dirty="0"/>
          </a:p>
        </p:txBody>
      </p:sp>
      <p:sp>
        <p:nvSpPr>
          <p:cNvPr id="7" name="chip-1"/>
          <p:cNvSpPr/>
          <p:nvPr/>
        </p:nvSpPr>
        <p:spPr>
          <a:xfrm>
            <a:off x="3337560" y="3749040"/>
            <a:ext cx="1691640" cy="822960"/>
          </a:xfrm>
          <a:prstGeom prst="rect">
            <a:avLst/>
          </a:prstGeom>
          <a:solidFill>
            <a:schemeClr val="bg2"/>
          </a:solidFill>
          <a:ln w="12700">
            <a:solidFill>
              <a:schemeClr val="bg2"/>
            </a:solidFill>
            <a:prstDash val="solid"/>
          </a:ln>
        </p:spPr>
      </p:sp>
      <p:sp>
        <p:nvSpPr>
          <p:cNvPr id="8" name="Text 4"/>
          <p:cNvSpPr txBox="1"/>
          <p:nvPr/>
        </p:nvSpPr>
        <p:spPr>
          <a:xfrm>
            <a:off x="3447288" y="3767328"/>
            <a:ext cx="731520" cy="786384"/>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221</a:t>
            </a:r>
            <a:endParaRPr lang="en-US" sz="2800" dirty="0"/>
          </a:p>
        </p:txBody>
      </p:sp>
      <p:sp>
        <p:nvSpPr>
          <p:cNvPr id="9" name="Text 5"/>
          <p:cNvSpPr txBox="1"/>
          <p:nvPr/>
        </p:nvSpPr>
        <p:spPr>
          <a:xfrm>
            <a:off x="4160520" y="3767328"/>
            <a:ext cx="822960" cy="786384"/>
          </a:xfrm>
          <a:prstGeom prst="rect">
            <a:avLst/>
          </a:prstGeom>
          <a:noFill/>
          <a:ln/>
        </p:spPr>
        <p:txBody>
          <a:bodyPr wrap="square" lIns="0" tIns="0" rIns="0" bIns="0" rtlCol="0" anchor="ctr"/>
          <a:lstStyle/>
          <a:p>
            <a:pPr indent="0" marL="0">
              <a:buNone/>
            </a:pPr>
            <a:r>
              <a:rPr lang="en-US" sz="1000" dirty="0">
                <a:solidFill>
                  <a:schemeClr val="tx2"/>
                </a:solidFill>
              </a:rPr>
              <a:t>missing values per measure column</a:t>
            </a:r>
            <a:endParaRPr lang="en-US" sz="1000" dirty="0"/>
          </a:p>
        </p:txBody>
      </p:sp>
      <p:sp>
        <p:nvSpPr>
          <p:cNvPr id="10" name="chip-2"/>
          <p:cNvSpPr/>
          <p:nvPr/>
        </p:nvSpPr>
        <p:spPr>
          <a:xfrm>
            <a:off x="5120640" y="3749040"/>
            <a:ext cx="1691640" cy="822960"/>
          </a:xfrm>
          <a:prstGeom prst="rect">
            <a:avLst/>
          </a:prstGeom>
          <a:solidFill>
            <a:schemeClr val="bg2"/>
          </a:solidFill>
          <a:ln w="12700">
            <a:solidFill>
              <a:schemeClr val="bg2"/>
            </a:solidFill>
            <a:prstDash val="solid"/>
          </a:ln>
        </p:spPr>
      </p:sp>
      <p:sp>
        <p:nvSpPr>
          <p:cNvPr id="11" name="Text 7"/>
          <p:cNvSpPr txBox="1"/>
          <p:nvPr/>
        </p:nvSpPr>
        <p:spPr>
          <a:xfrm>
            <a:off x="5230368" y="3767328"/>
            <a:ext cx="731520" cy="786384"/>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a:t>
            </a:r>
            <a:endParaRPr lang="en-US" sz="2800" dirty="0"/>
          </a:p>
        </p:txBody>
      </p:sp>
      <p:sp>
        <p:nvSpPr>
          <p:cNvPr id="12" name="Text 8"/>
          <p:cNvSpPr txBox="1"/>
          <p:nvPr/>
        </p:nvSpPr>
        <p:spPr>
          <a:xfrm>
            <a:off x="5943600" y="3767328"/>
            <a:ext cx="822960" cy="786384"/>
          </a:xfrm>
          <a:prstGeom prst="rect">
            <a:avLst/>
          </a:prstGeom>
          <a:noFill/>
          <a:ln/>
        </p:spPr>
        <p:txBody>
          <a:bodyPr wrap="square" lIns="0" tIns="0" rIns="0" bIns="0" rtlCol="0" anchor="ctr"/>
          <a:lstStyle/>
          <a:p>
            <a:pPr indent="0" marL="0">
              <a:buNone/>
            </a:pPr>
            <a:r>
              <a:rPr lang="en-US" sz="1000" dirty="0">
                <a:solidFill>
                  <a:schemeClr val="tx2"/>
                </a:solidFill>
              </a:rPr>
              <a:t>duplicate records</a:t>
            </a:r>
            <a:endParaRPr lang="en-US" sz="1000" dirty="0"/>
          </a:p>
        </p:txBody>
      </p:sp>
      <p:sp>
        <p:nvSpPr>
          <p:cNvPr id="13" name="chip-3"/>
          <p:cNvSpPr/>
          <p:nvPr/>
        </p:nvSpPr>
        <p:spPr>
          <a:xfrm>
            <a:off x="6903720" y="3749040"/>
            <a:ext cx="1691640" cy="822960"/>
          </a:xfrm>
          <a:prstGeom prst="rect">
            <a:avLst/>
          </a:prstGeom>
          <a:solidFill>
            <a:schemeClr val="bg2"/>
          </a:solidFill>
          <a:ln w="12700">
            <a:solidFill>
              <a:schemeClr val="bg2"/>
            </a:solidFill>
            <a:prstDash val="solid"/>
          </a:ln>
        </p:spPr>
      </p:sp>
      <p:sp>
        <p:nvSpPr>
          <p:cNvPr id="14" name="Text 10"/>
          <p:cNvSpPr txBox="1"/>
          <p:nvPr/>
        </p:nvSpPr>
        <p:spPr>
          <a:xfrm>
            <a:off x="7013448" y="3767328"/>
            <a:ext cx="731520" cy="786384"/>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7</a:t>
            </a:r>
            <a:endParaRPr lang="en-US" sz="2800" dirty="0"/>
          </a:p>
        </p:txBody>
      </p:sp>
      <p:sp>
        <p:nvSpPr>
          <p:cNvPr id="15" name="Text 11"/>
          <p:cNvSpPr txBox="1"/>
          <p:nvPr/>
        </p:nvSpPr>
        <p:spPr>
          <a:xfrm>
            <a:off x="7726680" y="3767328"/>
            <a:ext cx="822960" cy="786384"/>
          </a:xfrm>
          <a:prstGeom prst="rect">
            <a:avLst/>
          </a:prstGeom>
          <a:noFill/>
          <a:ln/>
        </p:spPr>
        <p:txBody>
          <a:bodyPr wrap="square" lIns="0" tIns="0" rIns="0" bIns="0" rtlCol="0" anchor="ctr"/>
          <a:lstStyle/>
          <a:p>
            <a:pPr indent="0" marL="0">
              <a:buNone/>
            </a:pPr>
            <a:r>
              <a:rPr lang="en-US" sz="1000" dirty="0">
                <a:solidFill>
                  <a:schemeClr val="tx2"/>
                </a:solidFill>
              </a:rPr>
              <a:t>pollutant types</a:t>
            </a:r>
            <a:endParaRPr lang="en-US" sz="1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Data Cleaning &amp; Transformation</a:t>
            </a:r>
            <a:endParaRPr lang="en-US" sz="3000" dirty="0"/>
          </a:p>
        </p:txBody>
      </p:sp>
      <p:sp>
        <p:nvSpPr>
          <p:cNvPr id="3" name="num-1"/>
          <p:cNvSpPr/>
          <p:nvPr/>
        </p:nvSpPr>
        <p:spPr>
          <a:xfrm>
            <a:off x="457200" y="1152144"/>
            <a:ext cx="384048" cy="384048"/>
          </a:xfrm>
          <a:prstGeom prst="ellipse">
            <a:avLst/>
          </a:prstGeom>
          <a:solidFill>
            <a:schemeClr val="accent1"/>
          </a:solidFill>
          <a:ln w="12700">
            <a:solidFill>
              <a:schemeClr val="accent1"/>
            </a:solidFill>
            <a:prstDash val="solid"/>
          </a:ln>
        </p:spPr>
      </p:sp>
      <p:sp>
        <p:nvSpPr>
          <p:cNvPr id="4" name="Text 2"/>
          <p:cNvSpPr txBox="1"/>
          <p:nvPr/>
        </p:nvSpPr>
        <p:spPr>
          <a:xfrm>
            <a:off x="457200" y="11521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097280"/>
            <a:ext cx="4023360" cy="493776"/>
          </a:xfrm>
          <a:prstGeom prst="rect">
            <a:avLst/>
          </a:prstGeom>
          <a:noFill/>
          <a:ln/>
        </p:spPr>
        <p:txBody>
          <a:bodyPr wrap="square" lIns="0" tIns="0" rIns="0" bIns="0" rtlCol="0" anchor="ctr"/>
          <a:lstStyle/>
          <a:p>
            <a:pPr indent="0" marL="0">
              <a:buNone/>
            </a:pPr>
            <a:r>
              <a:rPr lang="en-US" sz="1400" dirty="0">
                <a:solidFill>
                  <a:schemeClr val="tx2"/>
                </a:solidFill>
              </a:rPr>
              <a:t>Dropped the country column (always "India")</a:t>
            </a:r>
            <a:endParaRPr lang="en-US" sz="1400" dirty="0"/>
          </a:p>
        </p:txBody>
      </p:sp>
      <p:sp>
        <p:nvSpPr>
          <p:cNvPr id="6" name="num-2"/>
          <p:cNvSpPr/>
          <p:nvPr/>
        </p:nvSpPr>
        <p:spPr>
          <a:xfrm>
            <a:off x="457200" y="1737360"/>
            <a:ext cx="384048" cy="384048"/>
          </a:xfrm>
          <a:prstGeom prst="ellipse">
            <a:avLst/>
          </a:prstGeom>
          <a:solidFill>
            <a:schemeClr val="accent1"/>
          </a:solidFill>
          <a:ln w="12700">
            <a:solidFill>
              <a:schemeClr val="accent1"/>
            </a:solidFill>
            <a:prstDash val="solid"/>
          </a:ln>
        </p:spPr>
      </p:sp>
      <p:sp>
        <p:nvSpPr>
          <p:cNvPr id="7" name="Text 5"/>
          <p:cNvSpPr txBox="1"/>
          <p:nvPr/>
        </p:nvSpPr>
        <p:spPr>
          <a:xfrm>
            <a:off x="457200" y="1737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1682496"/>
            <a:ext cx="4023360" cy="493776"/>
          </a:xfrm>
          <a:prstGeom prst="rect">
            <a:avLst/>
          </a:prstGeom>
          <a:noFill/>
          <a:ln/>
        </p:spPr>
        <p:txBody>
          <a:bodyPr wrap="square" lIns="0" tIns="0" rIns="0" bIns="0" rtlCol="0" anchor="ctr"/>
          <a:lstStyle/>
          <a:p>
            <a:pPr indent="0" marL="0">
              <a:buNone/>
            </a:pPr>
            <a:r>
              <a:rPr lang="en-US" sz="1400" dirty="0">
                <a:solidFill>
                  <a:schemeClr val="tx2"/>
                </a:solidFill>
              </a:rPr>
              <a:t>Standardised state and city names: underscores removed, title case</a:t>
            </a:r>
            <a:endParaRPr lang="en-US" sz="1400" dirty="0"/>
          </a:p>
        </p:txBody>
      </p:sp>
      <p:sp>
        <p:nvSpPr>
          <p:cNvPr id="9" name="num-3"/>
          <p:cNvSpPr/>
          <p:nvPr/>
        </p:nvSpPr>
        <p:spPr>
          <a:xfrm>
            <a:off x="457200" y="2322576"/>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3225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267712"/>
            <a:ext cx="4023360" cy="493776"/>
          </a:xfrm>
          <a:prstGeom prst="rect">
            <a:avLst/>
          </a:prstGeom>
          <a:noFill/>
          <a:ln/>
        </p:spPr>
        <p:txBody>
          <a:bodyPr wrap="square" lIns="0" tIns="0" rIns="0" bIns="0" rtlCol="0" anchor="ctr"/>
          <a:lstStyle/>
          <a:p>
            <a:pPr indent="0" marL="0">
              <a:buNone/>
            </a:pPr>
            <a:r>
              <a:rPr lang="en-US" sz="1400" dirty="0">
                <a:solidFill>
                  <a:schemeClr val="tx2"/>
                </a:solidFill>
              </a:rPr>
              <a:t>Converted last_update to datetime</a:t>
            </a:r>
            <a:endParaRPr lang="en-US" sz="1400" dirty="0"/>
          </a:p>
        </p:txBody>
      </p:sp>
      <p:sp>
        <p:nvSpPr>
          <p:cNvPr id="12" name="num-4"/>
          <p:cNvSpPr/>
          <p:nvPr/>
        </p:nvSpPr>
        <p:spPr>
          <a:xfrm>
            <a:off x="457200" y="2907792"/>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457200" y="29077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05840" y="2852928"/>
            <a:ext cx="4023360" cy="493776"/>
          </a:xfrm>
          <a:prstGeom prst="rect">
            <a:avLst/>
          </a:prstGeom>
          <a:noFill/>
          <a:ln/>
        </p:spPr>
        <p:txBody>
          <a:bodyPr wrap="square" lIns="0" tIns="0" rIns="0" bIns="0" rtlCol="0" anchor="ctr"/>
          <a:lstStyle/>
          <a:p>
            <a:pPr indent="0" marL="0">
              <a:buNone/>
            </a:pPr>
            <a:r>
              <a:rPr lang="en-US" sz="1400" dirty="0">
                <a:solidFill>
                  <a:schemeClr val="tx2"/>
                </a:solidFill>
              </a:rPr>
              <a:t>Checked for min &gt; max entries: none found</a:t>
            </a:r>
            <a:endParaRPr lang="en-US" sz="1400" dirty="0"/>
          </a:p>
        </p:txBody>
      </p:sp>
      <p:sp>
        <p:nvSpPr>
          <p:cNvPr id="15" name="num-5"/>
          <p:cNvSpPr/>
          <p:nvPr/>
        </p:nvSpPr>
        <p:spPr>
          <a:xfrm>
            <a:off x="457200" y="3493008"/>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457200" y="34930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005840" y="3438144"/>
            <a:ext cx="4023360" cy="493776"/>
          </a:xfrm>
          <a:prstGeom prst="rect">
            <a:avLst/>
          </a:prstGeom>
          <a:noFill/>
          <a:ln/>
        </p:spPr>
        <p:txBody>
          <a:bodyPr wrap="square" lIns="0" tIns="0" rIns="0" bIns="0" rtlCol="0" anchor="ctr"/>
          <a:lstStyle/>
          <a:p>
            <a:pPr indent="0" marL="0">
              <a:buNone/>
            </a:pPr>
            <a:r>
              <a:rPr lang="en-US" sz="1400" dirty="0">
                <a:solidFill>
                  <a:schemeClr val="tx2"/>
                </a:solidFill>
              </a:rPr>
              <a:t>Removed 221 rows with missing pollutant_avg</a:t>
            </a:r>
            <a:endParaRPr lang="en-US" sz="1400" dirty="0"/>
          </a:p>
        </p:txBody>
      </p:sp>
      <p:sp>
        <p:nvSpPr>
          <p:cNvPr id="18" name="num-6"/>
          <p:cNvSpPr/>
          <p:nvPr/>
        </p:nvSpPr>
        <p:spPr>
          <a:xfrm>
            <a:off x="457200" y="4078224"/>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457200" y="40782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Text 18"/>
          <p:cNvSpPr txBox="1"/>
          <p:nvPr/>
        </p:nvSpPr>
        <p:spPr>
          <a:xfrm>
            <a:off x="1005840" y="4023360"/>
            <a:ext cx="4023360" cy="493776"/>
          </a:xfrm>
          <a:prstGeom prst="rect">
            <a:avLst/>
          </a:prstGeom>
          <a:noFill/>
          <a:ln/>
        </p:spPr>
        <p:txBody>
          <a:bodyPr wrap="square" lIns="0" tIns="0" rIns="0" bIns="0" rtlCol="0" anchor="ctr"/>
          <a:lstStyle/>
          <a:p>
            <a:pPr indent="0" marL="0">
              <a:buNone/>
            </a:pPr>
            <a:r>
              <a:rPr lang="en-US" sz="1400" dirty="0">
                <a:solidFill>
                  <a:schemeClr val="tx2"/>
                </a:solidFill>
              </a:rPr>
              <a:t>Filtered by pollutant_id to build PM2.5 and PM10 subsets</a:t>
            </a:r>
            <a:endParaRPr lang="en-US" sz="1400" dirty="0"/>
          </a:p>
        </p:txBody>
      </p:sp>
      <p:pic>
        <p:nvPicPr>
          <p:cNvPr id="21" name="shot-cleaning" descr="Jupyter output of the cleaning script">    </p:cNvPr>
          <p:cNvPicPr>
            <a:picLocks noChangeAspect="1"/>
          </p:cNvPicPr>
          <p:nvPr/>
        </p:nvPicPr>
        <p:blipFill>
          <a:blip r:embed="rId1"/>
          <a:stretch>
            <a:fillRect/>
          </a:stretch>
        </p:blipFill>
        <p:spPr>
          <a:xfrm>
            <a:off x="5349240" y="1097280"/>
            <a:ext cx="3337560" cy="1587731"/>
          </a:xfrm>
          <a:prstGeom prst="rect">
            <a:avLst/>
          </a:prstGeom>
        </p:spPr>
      </p:pic>
      <p:sp>
        <p:nvSpPr>
          <p:cNvPr id="22" name="before-after-1"/>
          <p:cNvSpPr/>
          <p:nvPr/>
        </p:nvSpPr>
        <p:spPr>
          <a:xfrm>
            <a:off x="5349240" y="2834640"/>
            <a:ext cx="1645920" cy="731520"/>
          </a:xfrm>
          <a:prstGeom prst="rect">
            <a:avLst/>
          </a:prstGeom>
          <a:solidFill>
            <a:schemeClr val="bg2"/>
          </a:solidFill>
          <a:ln w="12700">
            <a:solidFill>
              <a:schemeClr val="bg2"/>
            </a:solidFill>
            <a:prstDash val="solid"/>
          </a:ln>
        </p:spPr>
      </p:sp>
      <p:sp>
        <p:nvSpPr>
          <p:cNvPr id="23" name="Text 20"/>
          <p:cNvSpPr txBox="1"/>
          <p:nvPr/>
        </p:nvSpPr>
        <p:spPr>
          <a:xfrm>
            <a:off x="5349240" y="2862072"/>
            <a:ext cx="1645920" cy="365760"/>
          </a:xfrm>
          <a:prstGeom prst="rect">
            <a:avLst/>
          </a:prstGeom>
          <a:noFill/>
          <a:ln/>
        </p:spPr>
        <p:txBody>
          <a:bodyPr wrap="square" lIns="0" tIns="0" rIns="0" bIns="0" rtlCol="0" anchor="ctr"/>
          <a:lstStyle/>
          <a:p>
            <a:pPr algn="ctr" indent="0" marL="0">
              <a:buNone/>
            </a:pPr>
            <a:r>
              <a:rPr lang="en-US" sz="1700" b="1" dirty="0">
                <a:solidFill>
                  <a:schemeClr val="accent1"/>
                </a:solidFill>
              </a:rPr>
              <a:t>3,314 → 3,093</a:t>
            </a:r>
            <a:endParaRPr lang="en-US" sz="1700" dirty="0"/>
          </a:p>
        </p:txBody>
      </p:sp>
      <p:sp>
        <p:nvSpPr>
          <p:cNvPr id="24" name="Text 21"/>
          <p:cNvSpPr txBox="1"/>
          <p:nvPr/>
        </p:nvSpPr>
        <p:spPr>
          <a:xfrm>
            <a:off x="5349240" y="3227832"/>
            <a:ext cx="1645920" cy="274320"/>
          </a:xfrm>
          <a:prstGeom prst="rect">
            <a:avLst/>
          </a:prstGeom>
          <a:noFill/>
          <a:ln/>
        </p:spPr>
        <p:txBody>
          <a:bodyPr wrap="square" lIns="0" tIns="0" rIns="0" bIns="0" rtlCol="0" anchor="ctr"/>
          <a:lstStyle/>
          <a:p>
            <a:pPr algn="ctr" indent="0" marL="0">
              <a:buNone/>
            </a:pPr>
            <a:r>
              <a:rPr lang="en-US" sz="1100" dirty="0">
                <a:solidFill>
                  <a:schemeClr val="tx2"/>
                </a:solidFill>
              </a:rPr>
              <a:t>rows</a:t>
            </a:r>
            <a:endParaRPr lang="en-US" sz="1100" dirty="0"/>
          </a:p>
        </p:txBody>
      </p:sp>
      <p:sp>
        <p:nvSpPr>
          <p:cNvPr id="25" name="before-after-2"/>
          <p:cNvSpPr/>
          <p:nvPr/>
        </p:nvSpPr>
        <p:spPr>
          <a:xfrm>
            <a:off x="7040880" y="2834640"/>
            <a:ext cx="1645920" cy="731520"/>
          </a:xfrm>
          <a:prstGeom prst="rect">
            <a:avLst/>
          </a:prstGeom>
          <a:solidFill>
            <a:schemeClr val="bg2"/>
          </a:solidFill>
          <a:ln w="12700">
            <a:solidFill>
              <a:schemeClr val="bg2"/>
            </a:solidFill>
            <a:prstDash val="solid"/>
          </a:ln>
        </p:spPr>
      </p:sp>
      <p:sp>
        <p:nvSpPr>
          <p:cNvPr id="26" name="Text 23"/>
          <p:cNvSpPr txBox="1"/>
          <p:nvPr/>
        </p:nvSpPr>
        <p:spPr>
          <a:xfrm>
            <a:off x="7040880" y="2862072"/>
            <a:ext cx="1645920" cy="365760"/>
          </a:xfrm>
          <a:prstGeom prst="rect">
            <a:avLst/>
          </a:prstGeom>
          <a:noFill/>
          <a:ln/>
        </p:spPr>
        <p:txBody>
          <a:bodyPr wrap="square" lIns="0" tIns="0" rIns="0" bIns="0" rtlCol="0" anchor="ctr"/>
          <a:lstStyle/>
          <a:p>
            <a:pPr algn="ctr" indent="0" marL="0">
              <a:buNone/>
            </a:pPr>
            <a:r>
              <a:rPr lang="en-US" sz="1700" b="1" dirty="0">
                <a:solidFill>
                  <a:schemeClr val="accent1"/>
                </a:solidFill>
              </a:rPr>
              <a:t>11 → 10</a:t>
            </a:r>
            <a:endParaRPr lang="en-US" sz="1700" dirty="0"/>
          </a:p>
        </p:txBody>
      </p:sp>
      <p:sp>
        <p:nvSpPr>
          <p:cNvPr id="27" name="Text 24"/>
          <p:cNvSpPr txBox="1"/>
          <p:nvPr/>
        </p:nvSpPr>
        <p:spPr>
          <a:xfrm>
            <a:off x="7040880" y="3227832"/>
            <a:ext cx="1645920" cy="274320"/>
          </a:xfrm>
          <a:prstGeom prst="rect">
            <a:avLst/>
          </a:prstGeom>
          <a:noFill/>
          <a:ln/>
        </p:spPr>
        <p:txBody>
          <a:bodyPr wrap="square" lIns="0" tIns="0" rIns="0" bIns="0" rtlCol="0" anchor="ctr"/>
          <a:lstStyle/>
          <a:p>
            <a:pPr algn="ctr" indent="0" marL="0">
              <a:buNone/>
            </a:pPr>
            <a:r>
              <a:rPr lang="en-US" sz="1100" dirty="0">
                <a:solidFill>
                  <a:schemeClr val="tx2"/>
                </a:solidFill>
              </a:rPr>
              <a:t>columns</a:t>
            </a:r>
            <a:endParaRPr lang="en-US" sz="1100" dirty="0"/>
          </a:p>
        </p:txBody>
      </p:sp>
      <p:sp>
        <p:nvSpPr>
          <p:cNvPr id="28" name="quirk-note"/>
          <p:cNvSpPr/>
          <p:nvPr/>
        </p:nvSpPr>
        <p:spPr>
          <a:xfrm>
            <a:off x="5349240" y="3703320"/>
            <a:ext cx="3337560" cy="914400"/>
          </a:xfrm>
          <a:prstGeom prst="rect">
            <a:avLst/>
          </a:prstGeom>
          <a:solidFill>
            <a:schemeClr val="bg2"/>
          </a:solidFill>
          <a:ln w="12700">
            <a:solidFill>
              <a:schemeClr val="bg2"/>
            </a:solidFill>
            <a:prstDash val="solid"/>
          </a:ln>
        </p:spPr>
      </p:sp>
      <p:sp>
        <p:nvSpPr>
          <p:cNvPr id="29" name="Text 26"/>
          <p:cNvSpPr txBox="1"/>
          <p:nvPr/>
        </p:nvSpPr>
        <p:spPr>
          <a:xfrm>
            <a:off x="5458968" y="3730752"/>
            <a:ext cx="3108960" cy="859536"/>
          </a:xfrm>
          <a:prstGeom prst="rect">
            <a:avLst/>
          </a:prstGeom>
          <a:noFill/>
          <a:ln/>
        </p:spPr>
        <p:txBody>
          <a:bodyPr wrap="square" lIns="0" tIns="0" rIns="0" bIns="0" rtlCol="0" anchor="ctr"/>
          <a:lstStyle/>
          <a:p>
            <a:pPr indent="0" marL="0">
              <a:buNone/>
            </a:pPr>
            <a:r>
              <a:rPr lang="en-US" sz="1100" dirty="0">
                <a:solidFill>
                  <a:schemeClr val="tx1"/>
                </a:solidFill>
              </a:rPr>
              <a:t>Known quirk: title case turned "TamilNadu" into "Tamilnadu", and Arunachal Pradesh had only missing values, so it dropped out (31 → 30 states).</a:t>
            </a:r>
            <a:endParaRPr lang="en-US" sz="11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Exploratory Data Analysis</a:t>
            </a:r>
            <a:endParaRPr lang="en-US" sz="3000" dirty="0"/>
          </a:p>
        </p:txBody>
      </p:sp>
      <p:pic>
        <p:nvPicPr>
          <p:cNvPr id="3" name="shot-eda-avg" descr="Jupyter output: average pollutant values and top 10 states by PM2.5">    </p:cNvPr>
          <p:cNvPicPr>
            <a:picLocks noChangeAspect="1"/>
          </p:cNvPicPr>
          <p:nvPr/>
        </p:nvPicPr>
        <p:blipFill>
          <a:blip r:embed="rId1"/>
          <a:stretch>
            <a:fillRect/>
          </a:stretch>
        </p:blipFill>
        <p:spPr>
          <a:xfrm>
            <a:off x="457200" y="1005840"/>
            <a:ext cx="3931920" cy="2751513"/>
          </a:xfrm>
          <a:prstGeom prst="rect">
            <a:avLst/>
          </a:prstGeom>
        </p:spPr>
      </p:pic>
      <p:pic>
        <p:nvPicPr>
          <p:cNvPr id="4" name="shot-eda-cities" descr="Jupyter output: top 10 cities, readings above 90, Pearson correlation">    </p:cNvPr>
          <p:cNvPicPr>
            <a:picLocks noChangeAspect="1"/>
          </p:cNvPicPr>
          <p:nvPr/>
        </p:nvPicPr>
        <p:blipFill>
          <a:blip r:embed="rId2"/>
          <a:stretch>
            <a:fillRect/>
          </a:stretch>
        </p:blipFill>
        <p:spPr>
          <a:xfrm>
            <a:off x="4754880" y="1005840"/>
            <a:ext cx="3931920" cy="2552007"/>
          </a:xfrm>
          <a:prstGeom prst="rect">
            <a:avLst/>
          </a:prstGeom>
        </p:spPr>
      </p:pic>
      <p:sp>
        <p:nvSpPr>
          <p:cNvPr id="5" name="kpi-1"/>
          <p:cNvSpPr/>
          <p:nvPr/>
        </p:nvSpPr>
        <p:spPr>
          <a:xfrm>
            <a:off x="457200" y="4023360"/>
            <a:ext cx="1920240" cy="731520"/>
          </a:xfrm>
          <a:prstGeom prst="rect">
            <a:avLst/>
          </a:prstGeom>
          <a:solidFill>
            <a:schemeClr val="bg2"/>
          </a:solidFill>
          <a:ln w="12700">
            <a:solidFill>
              <a:schemeClr val="bg2"/>
            </a:solidFill>
            <a:prstDash val="solid"/>
          </a:ln>
        </p:spPr>
      </p:sp>
      <p:sp>
        <p:nvSpPr>
          <p:cNvPr id="6" name="Text 2"/>
          <p:cNvSpPr txBox="1"/>
          <p:nvPr/>
        </p:nvSpPr>
        <p:spPr>
          <a:xfrm>
            <a:off x="548640" y="4050792"/>
            <a:ext cx="1737360" cy="347472"/>
          </a:xfrm>
          <a:prstGeom prst="rect">
            <a:avLst/>
          </a:prstGeom>
          <a:noFill/>
          <a:ln/>
        </p:spPr>
        <p:txBody>
          <a:bodyPr wrap="square" lIns="0" tIns="0" rIns="0" bIns="0" rtlCol="0" anchor="ctr"/>
          <a:lstStyle/>
          <a:p>
            <a:pPr indent="0" marL="0">
              <a:buNone/>
            </a:pPr>
            <a:r>
              <a:rPr lang="en-US" sz="1800" b="1" dirty="0">
                <a:solidFill>
                  <a:schemeClr val="accent1"/>
                </a:solidFill>
              </a:rPr>
              <a:t>175.2</a:t>
            </a:r>
            <a:endParaRPr lang="en-US" sz="1800" dirty="0"/>
          </a:p>
        </p:txBody>
      </p:sp>
      <p:sp>
        <p:nvSpPr>
          <p:cNvPr id="7" name="Text 3"/>
          <p:cNvSpPr txBox="1"/>
          <p:nvPr/>
        </p:nvSpPr>
        <p:spPr>
          <a:xfrm>
            <a:off x="548640" y="4398264"/>
            <a:ext cx="1737360" cy="329184"/>
          </a:xfrm>
          <a:prstGeom prst="rect">
            <a:avLst/>
          </a:prstGeom>
          <a:noFill/>
          <a:ln/>
        </p:spPr>
        <p:txBody>
          <a:bodyPr wrap="square" lIns="0" tIns="0" rIns="0" bIns="0" rtlCol="0" anchor="t"/>
          <a:lstStyle/>
          <a:p>
            <a:pPr indent="0" marL="0">
              <a:buNone/>
            </a:pPr>
            <a:r>
              <a:rPr lang="en-US" sz="1000" dirty="0">
                <a:solidFill>
                  <a:schemeClr val="tx2"/>
                </a:solidFill>
              </a:rPr>
              <a:t>mean PM2.5 (median 149)</a:t>
            </a:r>
            <a:endParaRPr lang="en-US" sz="1000" dirty="0"/>
          </a:p>
        </p:txBody>
      </p:sp>
      <p:sp>
        <p:nvSpPr>
          <p:cNvPr id="8" name="kpi-2"/>
          <p:cNvSpPr/>
          <p:nvPr/>
        </p:nvSpPr>
        <p:spPr>
          <a:xfrm>
            <a:off x="2560320" y="4023360"/>
            <a:ext cx="1920240" cy="731520"/>
          </a:xfrm>
          <a:prstGeom prst="rect">
            <a:avLst/>
          </a:prstGeom>
          <a:solidFill>
            <a:schemeClr val="bg2"/>
          </a:solidFill>
          <a:ln w="12700">
            <a:solidFill>
              <a:schemeClr val="bg2"/>
            </a:solidFill>
            <a:prstDash val="solid"/>
          </a:ln>
        </p:spPr>
      </p:sp>
      <p:sp>
        <p:nvSpPr>
          <p:cNvPr id="9" name="Text 5"/>
          <p:cNvSpPr txBox="1"/>
          <p:nvPr/>
        </p:nvSpPr>
        <p:spPr>
          <a:xfrm>
            <a:off x="2651760" y="4050792"/>
            <a:ext cx="1737360" cy="347472"/>
          </a:xfrm>
          <a:prstGeom prst="rect">
            <a:avLst/>
          </a:prstGeom>
          <a:noFill/>
          <a:ln/>
        </p:spPr>
        <p:txBody>
          <a:bodyPr wrap="square" lIns="0" tIns="0" rIns="0" bIns="0" rtlCol="0" anchor="ctr"/>
          <a:lstStyle/>
          <a:p>
            <a:pPr indent="0" marL="0">
              <a:buNone/>
            </a:pPr>
            <a:r>
              <a:rPr lang="en-US" sz="1800" b="1" dirty="0">
                <a:solidFill>
                  <a:schemeClr val="accent2"/>
                </a:solidFill>
              </a:rPr>
              <a:t>73.4%</a:t>
            </a:r>
            <a:endParaRPr lang="en-US" sz="1800" dirty="0"/>
          </a:p>
        </p:txBody>
      </p:sp>
      <p:sp>
        <p:nvSpPr>
          <p:cNvPr id="10" name="Text 6"/>
          <p:cNvSpPr txBox="1"/>
          <p:nvPr/>
        </p:nvSpPr>
        <p:spPr>
          <a:xfrm>
            <a:off x="2651760" y="4398264"/>
            <a:ext cx="1737360" cy="329184"/>
          </a:xfrm>
          <a:prstGeom prst="rect">
            <a:avLst/>
          </a:prstGeom>
          <a:noFill/>
          <a:ln/>
        </p:spPr>
        <p:txBody>
          <a:bodyPr wrap="square" lIns="0" tIns="0" rIns="0" bIns="0" rtlCol="0" anchor="t"/>
          <a:lstStyle/>
          <a:p>
            <a:pPr indent="0" marL="0">
              <a:buNone/>
            </a:pPr>
            <a:r>
              <a:rPr lang="en-US" sz="1000" dirty="0">
                <a:solidFill>
                  <a:schemeClr val="tx2"/>
                </a:solidFill>
              </a:rPr>
              <a:t>of PM2.5 readings above 90 (328 of 447)</a:t>
            </a:r>
            <a:endParaRPr lang="en-US" sz="1000" dirty="0"/>
          </a:p>
        </p:txBody>
      </p:sp>
      <p:sp>
        <p:nvSpPr>
          <p:cNvPr id="11" name="kpi-3"/>
          <p:cNvSpPr/>
          <p:nvPr/>
        </p:nvSpPr>
        <p:spPr>
          <a:xfrm>
            <a:off x="4663440" y="4023360"/>
            <a:ext cx="1920240" cy="731520"/>
          </a:xfrm>
          <a:prstGeom prst="rect">
            <a:avLst/>
          </a:prstGeom>
          <a:solidFill>
            <a:schemeClr val="bg2"/>
          </a:solidFill>
          <a:ln w="12700">
            <a:solidFill>
              <a:schemeClr val="bg2"/>
            </a:solidFill>
            <a:prstDash val="solid"/>
          </a:ln>
        </p:spPr>
      </p:sp>
      <p:sp>
        <p:nvSpPr>
          <p:cNvPr id="12" name="Text 8"/>
          <p:cNvSpPr txBox="1"/>
          <p:nvPr/>
        </p:nvSpPr>
        <p:spPr>
          <a:xfrm>
            <a:off x="4754880" y="4050792"/>
            <a:ext cx="1737360" cy="347472"/>
          </a:xfrm>
          <a:prstGeom prst="rect">
            <a:avLst/>
          </a:prstGeom>
          <a:noFill/>
          <a:ln/>
        </p:spPr>
        <p:txBody>
          <a:bodyPr wrap="square" lIns="0" tIns="0" rIns="0" bIns="0" rtlCol="0" anchor="ctr"/>
          <a:lstStyle/>
          <a:p>
            <a:pPr indent="0" marL="0">
              <a:buNone/>
            </a:pPr>
            <a:r>
              <a:rPr lang="en-US" sz="1800" b="1" dirty="0">
                <a:solidFill>
                  <a:schemeClr val="accent1"/>
                </a:solidFill>
              </a:rPr>
              <a:t>r = 0.881</a:t>
            </a:r>
            <a:endParaRPr lang="en-US" sz="1800" dirty="0"/>
          </a:p>
        </p:txBody>
      </p:sp>
      <p:sp>
        <p:nvSpPr>
          <p:cNvPr id="13" name="Text 9"/>
          <p:cNvSpPr txBox="1"/>
          <p:nvPr/>
        </p:nvSpPr>
        <p:spPr>
          <a:xfrm>
            <a:off x="4754880" y="4398264"/>
            <a:ext cx="1737360" cy="329184"/>
          </a:xfrm>
          <a:prstGeom prst="rect">
            <a:avLst/>
          </a:prstGeom>
          <a:noFill/>
          <a:ln/>
        </p:spPr>
        <p:txBody>
          <a:bodyPr wrap="square" lIns="0" tIns="0" rIns="0" bIns="0" rtlCol="0" anchor="t"/>
          <a:lstStyle/>
          <a:p>
            <a:pPr indent="0" marL="0">
              <a:buNone/>
            </a:pPr>
            <a:r>
              <a:rPr lang="en-US" sz="1000" dirty="0">
                <a:solidFill>
                  <a:schemeClr val="tx2"/>
                </a:solidFill>
              </a:rPr>
              <a:t>PM2.5 vs PM10, 431 stations</a:t>
            </a:r>
            <a:endParaRPr lang="en-US" sz="1000" dirty="0"/>
          </a:p>
        </p:txBody>
      </p:sp>
      <p:sp>
        <p:nvSpPr>
          <p:cNvPr id="14" name="kpi-4"/>
          <p:cNvSpPr/>
          <p:nvPr/>
        </p:nvSpPr>
        <p:spPr>
          <a:xfrm>
            <a:off x="6766560" y="4023360"/>
            <a:ext cx="1920240" cy="731520"/>
          </a:xfrm>
          <a:prstGeom prst="rect">
            <a:avLst/>
          </a:prstGeom>
          <a:solidFill>
            <a:schemeClr val="bg2"/>
          </a:solidFill>
          <a:ln w="12700">
            <a:solidFill>
              <a:schemeClr val="bg2"/>
            </a:solidFill>
            <a:prstDash val="solid"/>
          </a:ln>
        </p:spPr>
      </p:sp>
      <p:sp>
        <p:nvSpPr>
          <p:cNvPr id="15" name="Text 11"/>
          <p:cNvSpPr txBox="1"/>
          <p:nvPr/>
        </p:nvSpPr>
        <p:spPr>
          <a:xfrm>
            <a:off x="6858000" y="4050792"/>
            <a:ext cx="1737360" cy="347472"/>
          </a:xfrm>
          <a:prstGeom prst="rect">
            <a:avLst/>
          </a:prstGeom>
          <a:noFill/>
          <a:ln/>
        </p:spPr>
        <p:txBody>
          <a:bodyPr wrap="square" lIns="0" tIns="0" rIns="0" bIns="0" rtlCol="0" anchor="ctr"/>
          <a:lstStyle/>
          <a:p>
            <a:pPr indent="0" marL="0">
              <a:buNone/>
            </a:pPr>
            <a:r>
              <a:rPr lang="en-US" sz="1800" b="1" dirty="0">
                <a:solidFill>
                  <a:schemeClr val="accent1"/>
                </a:solidFill>
              </a:rPr>
              <a:t>358.5</a:t>
            </a:r>
            <a:endParaRPr lang="en-US" sz="1800" dirty="0"/>
          </a:p>
        </p:txBody>
      </p:sp>
      <p:sp>
        <p:nvSpPr>
          <p:cNvPr id="16" name="Text 12"/>
          <p:cNvSpPr txBox="1"/>
          <p:nvPr/>
        </p:nvSpPr>
        <p:spPr>
          <a:xfrm>
            <a:off x="6858000" y="4398264"/>
            <a:ext cx="1737360" cy="329184"/>
          </a:xfrm>
          <a:prstGeom prst="rect">
            <a:avLst/>
          </a:prstGeom>
          <a:noFill/>
          <a:ln/>
        </p:spPr>
        <p:txBody>
          <a:bodyPr wrap="square" lIns="0" tIns="0" rIns="0" bIns="0" rtlCol="0" anchor="t"/>
          <a:lstStyle/>
          <a:p>
            <a:pPr indent="0" marL="0">
              <a:buNone/>
            </a:pPr>
            <a:r>
              <a:rPr lang="en-US" sz="1000" dirty="0">
                <a:solidFill>
                  <a:schemeClr val="tx2"/>
                </a:solidFill>
              </a:rPr>
              <a:t>Delhi, highest state-average PM2.5</a:t>
            </a:r>
            <a:endParaRPr lang="en-US" sz="10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Data Visualization</a:t>
            </a:r>
            <a:endParaRPr lang="en-US" sz="3000" dirty="0"/>
          </a:p>
        </p:txBody>
      </p:sp>
      <p:sp>
        <p:nvSpPr>
          <p:cNvPr id="3" name="viz-card-1"/>
          <p:cNvSpPr/>
          <p:nvPr/>
        </p:nvSpPr>
        <p:spPr>
          <a:xfrm>
            <a:off x="457200" y="1005840"/>
            <a:ext cx="4023360" cy="1783080"/>
          </a:xfrm>
          <a:prstGeom prst="rect">
            <a:avLst/>
          </a:prstGeom>
          <a:solidFill>
            <a:schemeClr val="bg2"/>
          </a:solidFill>
          <a:ln w="12700">
            <a:solidFill>
              <a:schemeClr val="bg2"/>
            </a:solidFill>
            <a:prstDash val="solid"/>
          </a:ln>
        </p:spPr>
      </p:sp>
      <p:pic>
        <p:nvPicPr>
          <p:cNvPr id="4" name="viz-category_analysis" descr="Readings per pollutant (bar)">    </p:cNvPr>
          <p:cNvPicPr>
            <a:picLocks noChangeAspect="1"/>
          </p:cNvPicPr>
          <p:nvPr/>
        </p:nvPicPr>
        <p:blipFill>
          <a:blip r:embed="rId1"/>
          <a:stretch>
            <a:fillRect/>
          </a:stretch>
        </p:blipFill>
        <p:spPr>
          <a:xfrm>
            <a:off x="548640" y="1252728"/>
            <a:ext cx="2240280" cy="1280160"/>
          </a:xfrm>
          <a:prstGeom prst="rect">
            <a:avLst/>
          </a:prstGeom>
        </p:spPr>
      </p:pic>
      <p:sp>
        <p:nvSpPr>
          <p:cNvPr id="5" name="Text 2"/>
          <p:cNvSpPr txBox="1"/>
          <p:nvPr/>
        </p:nvSpPr>
        <p:spPr>
          <a:xfrm>
            <a:off x="2880360" y="1097280"/>
            <a:ext cx="1508760" cy="1645920"/>
          </a:xfrm>
          <a:prstGeom prst="rect">
            <a:avLst/>
          </a:prstGeom>
          <a:noFill/>
          <a:ln/>
        </p:spPr>
        <p:txBody>
          <a:bodyPr wrap="square" lIns="0" tIns="0" rIns="0" bIns="0" rtlCol="0" anchor="t"/>
          <a:lstStyle/>
          <a:p>
            <a:pPr indent="0" marL="0">
              <a:spcAft>
                <a:spcPts val="300"/>
              </a:spcAft>
              <a:buNone/>
            </a:pPr>
            <a:r>
              <a:rPr lang="en-US" sz="1100" b="1" dirty="0">
                <a:solidFill>
                  <a:schemeClr val="tx1"/>
                </a:solidFill>
              </a:rPr>
              <a:t>Readings per pollutant (bar)</a:t>
            </a:r>
            <a:endParaRPr lang="en-US" sz="1100" dirty="0"/>
          </a:p>
          <a:p>
            <a:pPr indent="0" marL="0">
              <a:spcAft>
                <a:spcPts val="300"/>
              </a:spcAft>
              <a:buNone/>
            </a:pPr>
            <a:r>
              <a:rPr lang="en-US" sz="1000" b="1" dirty="0">
                <a:solidFill>
                  <a:schemeClr val="accent1"/>
                </a:solidFill>
              </a:rPr>
              <a:t>Purpose: </a:t>
            </a:r>
            <a:pPr indent="0" marL="0">
              <a:spcAft>
                <a:spcPts val="300"/>
              </a:spcAft>
              <a:buNone/>
            </a:pPr>
            <a:r>
              <a:rPr lang="en-US" sz="1000" dirty="0">
                <a:solidFill>
                  <a:schemeClr val="tx2"/>
                </a:solidFill>
              </a:rPr>
              <a:t>Check coverage of each pollutant</a:t>
            </a:r>
            <a:endParaRPr lang="en-US" sz="1100" dirty="0"/>
          </a:p>
          <a:p>
            <a:pPr indent="0" marL="0">
              <a:spcAft>
                <a:spcPts val="300"/>
              </a:spcAft>
              <a:buNone/>
            </a:pPr>
            <a:r>
              <a:rPr lang="en-US" sz="1000" b="1" dirty="0">
                <a:solidFill>
                  <a:schemeClr val="accent1"/>
                </a:solidFill>
              </a:rPr>
              <a:t>Shows: </a:t>
            </a:r>
            <a:pPr indent="0" marL="0">
              <a:spcAft>
                <a:spcPts val="300"/>
              </a:spcAft>
              <a:buNone/>
            </a:pPr>
            <a:r>
              <a:rPr lang="en-US" sz="1000" dirty="0">
                <a:solidFill>
                  <a:schemeClr val="tx2"/>
                </a:solidFill>
              </a:rPr>
              <a:t>Count of readings for 7 pollutants</a:t>
            </a:r>
            <a:endParaRPr lang="en-US" sz="1100" dirty="0"/>
          </a:p>
          <a:p>
            <a:pPr indent="0" marL="0">
              <a:spcAft>
                <a:spcPts val="300"/>
              </a:spcAft>
              <a:buNone/>
            </a:pPr>
            <a:r>
              <a:rPr lang="en-US" sz="1000" b="1" dirty="0">
                <a:solidFill>
                  <a:schemeClr val="accent2"/>
                </a:solidFill>
              </a:rPr>
              <a:t>Insight: </a:t>
            </a:r>
            <a:pPr indent="0" marL="0">
              <a:spcAft>
                <a:spcPts val="300"/>
              </a:spcAft>
              <a:buNone/>
            </a:pPr>
            <a:r>
              <a:rPr lang="en-US" sz="1000" dirty="0">
                <a:solidFill>
                  <a:schemeClr val="tx2"/>
                </a:solidFill>
              </a:rPr>
              <a:t>Counts are balanced (402 to 459), so pollutants compare fairly</a:t>
            </a:r>
            <a:endParaRPr lang="en-US" sz="1100" dirty="0"/>
          </a:p>
        </p:txBody>
      </p:sp>
      <p:sp>
        <p:nvSpPr>
          <p:cNvPr id="6" name="viz-card-2"/>
          <p:cNvSpPr/>
          <p:nvPr/>
        </p:nvSpPr>
        <p:spPr>
          <a:xfrm>
            <a:off x="4663440" y="1005840"/>
            <a:ext cx="4023360" cy="1783080"/>
          </a:xfrm>
          <a:prstGeom prst="rect">
            <a:avLst/>
          </a:prstGeom>
          <a:solidFill>
            <a:schemeClr val="bg2"/>
          </a:solidFill>
          <a:ln w="12700">
            <a:solidFill>
              <a:schemeClr val="bg2"/>
            </a:solidFill>
            <a:prstDash val="solid"/>
          </a:ln>
        </p:spPr>
      </p:sp>
      <p:pic>
        <p:nvPicPr>
          <p:cNvPr id="7" name="viz-distribution_analysis" descr="PM2.5 distribution (histogram)">    </p:cNvPr>
          <p:cNvPicPr>
            <a:picLocks noChangeAspect="1"/>
          </p:cNvPicPr>
          <p:nvPr/>
        </p:nvPicPr>
        <p:blipFill>
          <a:blip r:embed="rId2"/>
          <a:stretch>
            <a:fillRect/>
          </a:stretch>
        </p:blipFill>
        <p:spPr>
          <a:xfrm>
            <a:off x="4754880" y="1252728"/>
            <a:ext cx="2240280" cy="1280160"/>
          </a:xfrm>
          <a:prstGeom prst="rect">
            <a:avLst/>
          </a:prstGeom>
        </p:spPr>
      </p:pic>
      <p:sp>
        <p:nvSpPr>
          <p:cNvPr id="8" name="Text 4"/>
          <p:cNvSpPr txBox="1"/>
          <p:nvPr/>
        </p:nvSpPr>
        <p:spPr>
          <a:xfrm>
            <a:off x="7086600" y="1097280"/>
            <a:ext cx="1508760" cy="1645920"/>
          </a:xfrm>
          <a:prstGeom prst="rect">
            <a:avLst/>
          </a:prstGeom>
          <a:noFill/>
          <a:ln/>
        </p:spPr>
        <p:txBody>
          <a:bodyPr wrap="square" lIns="0" tIns="0" rIns="0" bIns="0" rtlCol="0" anchor="t"/>
          <a:lstStyle/>
          <a:p>
            <a:pPr indent="0" marL="0">
              <a:spcAft>
                <a:spcPts val="300"/>
              </a:spcAft>
              <a:buNone/>
            </a:pPr>
            <a:r>
              <a:rPr lang="en-US" sz="1100" b="1" dirty="0">
                <a:solidFill>
                  <a:schemeClr val="tx1"/>
                </a:solidFill>
              </a:rPr>
              <a:t>PM2.5 distribution (histogram)</a:t>
            </a:r>
            <a:endParaRPr lang="en-US" sz="1100" dirty="0"/>
          </a:p>
          <a:p>
            <a:pPr indent="0" marL="0">
              <a:spcAft>
                <a:spcPts val="300"/>
              </a:spcAft>
              <a:buNone/>
            </a:pPr>
            <a:r>
              <a:rPr lang="en-US" sz="1000" b="1" dirty="0">
                <a:solidFill>
                  <a:schemeClr val="accent1"/>
                </a:solidFill>
              </a:rPr>
              <a:t>Purpose: </a:t>
            </a:r>
            <a:pPr indent="0" marL="0">
              <a:spcAft>
                <a:spcPts val="300"/>
              </a:spcAft>
              <a:buNone/>
            </a:pPr>
            <a:r>
              <a:rPr lang="en-US" sz="1000" dirty="0">
                <a:solidFill>
                  <a:schemeClr val="tx2"/>
                </a:solidFill>
              </a:rPr>
              <a:t>See how PM2.5 values spread</a:t>
            </a:r>
            <a:endParaRPr lang="en-US" sz="1100" dirty="0"/>
          </a:p>
          <a:p>
            <a:pPr indent="0" marL="0">
              <a:spcAft>
                <a:spcPts val="300"/>
              </a:spcAft>
              <a:buNone/>
            </a:pPr>
            <a:r>
              <a:rPr lang="en-US" sz="1000" b="1" dirty="0">
                <a:solidFill>
                  <a:schemeClr val="accent1"/>
                </a:solidFill>
              </a:rPr>
              <a:t>Shows: </a:t>
            </a:r>
            <a:pPr indent="0" marL="0">
              <a:spcAft>
                <a:spcPts val="300"/>
              </a:spcAft>
              <a:buNone/>
            </a:pPr>
            <a:r>
              <a:rPr lang="en-US" sz="1000" dirty="0">
                <a:solidFill>
                  <a:schemeClr val="tx2"/>
                </a:solidFill>
              </a:rPr>
              <a:t>Frequency of station averages, 15 to 410</a:t>
            </a:r>
            <a:endParaRPr lang="en-US" sz="1100" dirty="0"/>
          </a:p>
          <a:p>
            <a:pPr indent="0" marL="0">
              <a:spcAft>
                <a:spcPts val="300"/>
              </a:spcAft>
              <a:buNone/>
            </a:pPr>
            <a:r>
              <a:rPr lang="en-US" sz="1000" b="1" dirty="0">
                <a:solidFill>
                  <a:schemeClr val="accent2"/>
                </a:solidFill>
              </a:rPr>
              <a:t>Insight: </a:t>
            </a:r>
            <a:pPr indent="0" marL="0">
              <a:spcAft>
                <a:spcPts val="300"/>
              </a:spcAft>
              <a:buNone/>
            </a:pPr>
            <a:r>
              <a:rPr lang="en-US" sz="1000" dirty="0">
                <a:solidFill>
                  <a:schemeClr val="tx2"/>
                </a:solidFill>
              </a:rPr>
              <a:t>Long upper tail: many stations sit far above 90</a:t>
            </a:r>
            <a:endParaRPr lang="en-US" sz="1100" dirty="0"/>
          </a:p>
        </p:txBody>
      </p:sp>
      <p:sp>
        <p:nvSpPr>
          <p:cNvPr id="9" name="viz-card-3"/>
          <p:cNvSpPr/>
          <p:nvPr/>
        </p:nvSpPr>
        <p:spPr>
          <a:xfrm>
            <a:off x="457200" y="2880360"/>
            <a:ext cx="4023360" cy="1783080"/>
          </a:xfrm>
          <a:prstGeom prst="rect">
            <a:avLst/>
          </a:prstGeom>
          <a:solidFill>
            <a:schemeClr val="bg2"/>
          </a:solidFill>
          <a:ln w="12700">
            <a:solidFill>
              <a:schemeClr val="bg2"/>
            </a:solidFill>
            <a:prstDash val="solid"/>
          </a:ln>
        </p:spPr>
      </p:sp>
      <p:pic>
        <p:nvPicPr>
          <p:cNvPr id="10" name="viz-trend_analysis" descr="Top 10 states by PM2.5 (bar)">    </p:cNvPr>
          <p:cNvPicPr>
            <a:picLocks noChangeAspect="1"/>
          </p:cNvPicPr>
          <p:nvPr/>
        </p:nvPicPr>
        <p:blipFill>
          <a:blip r:embed="rId3"/>
          <a:stretch>
            <a:fillRect/>
          </a:stretch>
        </p:blipFill>
        <p:spPr>
          <a:xfrm>
            <a:off x="548640" y="3127248"/>
            <a:ext cx="2304288" cy="1280160"/>
          </a:xfrm>
          <a:prstGeom prst="rect">
            <a:avLst/>
          </a:prstGeom>
        </p:spPr>
      </p:pic>
      <p:sp>
        <p:nvSpPr>
          <p:cNvPr id="11" name="Text 6"/>
          <p:cNvSpPr txBox="1"/>
          <p:nvPr/>
        </p:nvSpPr>
        <p:spPr>
          <a:xfrm>
            <a:off x="2944368" y="2971800"/>
            <a:ext cx="1444752" cy="1645920"/>
          </a:xfrm>
          <a:prstGeom prst="rect">
            <a:avLst/>
          </a:prstGeom>
          <a:noFill/>
          <a:ln/>
        </p:spPr>
        <p:txBody>
          <a:bodyPr wrap="square" lIns="0" tIns="0" rIns="0" bIns="0" rtlCol="0" anchor="t"/>
          <a:lstStyle/>
          <a:p>
            <a:pPr indent="0" marL="0">
              <a:spcAft>
                <a:spcPts val="300"/>
              </a:spcAft>
              <a:buNone/>
            </a:pPr>
            <a:r>
              <a:rPr lang="en-US" sz="1100" b="1" dirty="0">
                <a:solidFill>
                  <a:schemeClr val="tx1"/>
                </a:solidFill>
              </a:rPr>
              <a:t>Top 10 states by PM2.5 (bar)</a:t>
            </a:r>
            <a:endParaRPr lang="en-US" sz="1100" dirty="0"/>
          </a:p>
          <a:p>
            <a:pPr indent="0" marL="0">
              <a:spcAft>
                <a:spcPts val="300"/>
              </a:spcAft>
              <a:buNone/>
            </a:pPr>
            <a:r>
              <a:rPr lang="en-US" sz="1000" b="1" dirty="0">
                <a:solidFill>
                  <a:schemeClr val="accent1"/>
                </a:solidFill>
              </a:rPr>
              <a:t>Purpose: </a:t>
            </a:r>
            <a:pPr indent="0" marL="0">
              <a:spcAft>
                <a:spcPts val="300"/>
              </a:spcAft>
              <a:buNone/>
            </a:pPr>
            <a:r>
              <a:rPr lang="en-US" sz="1000" dirty="0">
                <a:solidFill>
                  <a:schemeClr val="tx2"/>
                </a:solidFill>
              </a:rPr>
              <a:t>Rank the most polluted states</a:t>
            </a:r>
            <a:endParaRPr lang="en-US" sz="1100" dirty="0"/>
          </a:p>
          <a:p>
            <a:pPr indent="0" marL="0">
              <a:spcAft>
                <a:spcPts val="300"/>
              </a:spcAft>
              <a:buNone/>
            </a:pPr>
            <a:r>
              <a:rPr lang="en-US" sz="1000" b="1" dirty="0">
                <a:solidFill>
                  <a:schemeClr val="accent1"/>
                </a:solidFill>
              </a:rPr>
              <a:t>Shows: </a:t>
            </a:r>
            <a:pPr indent="0" marL="0">
              <a:spcAft>
                <a:spcPts val="300"/>
              </a:spcAft>
              <a:buNone/>
            </a:pPr>
            <a:r>
              <a:rPr lang="en-US" sz="1000" dirty="0">
                <a:solidFill>
                  <a:schemeClr val="tx2"/>
                </a:solidFill>
              </a:rPr>
              <a:t>Average PM2.5 per state</a:t>
            </a:r>
            <a:endParaRPr lang="en-US" sz="1100" dirty="0"/>
          </a:p>
          <a:p>
            <a:pPr indent="0" marL="0">
              <a:spcAft>
                <a:spcPts val="300"/>
              </a:spcAft>
              <a:buNone/>
            </a:pPr>
            <a:r>
              <a:rPr lang="en-US" sz="1000" b="1" dirty="0">
                <a:solidFill>
                  <a:schemeClr val="accent2"/>
                </a:solidFill>
              </a:rPr>
              <a:t>Insight: </a:t>
            </a:r>
            <a:pPr indent="0" marL="0">
              <a:spcAft>
                <a:spcPts val="300"/>
              </a:spcAft>
              <a:buNone/>
            </a:pPr>
            <a:r>
              <a:rPr lang="en-US" sz="1000" dirty="0">
                <a:solidFill>
                  <a:schemeClr val="tx2"/>
                </a:solidFill>
              </a:rPr>
              <a:t>Delhi leads at 358.5, then Chandigarh and Bihar</a:t>
            </a:r>
            <a:endParaRPr lang="en-US" sz="1100" dirty="0"/>
          </a:p>
        </p:txBody>
      </p:sp>
      <p:sp>
        <p:nvSpPr>
          <p:cNvPr id="12" name="viz-card-4"/>
          <p:cNvSpPr/>
          <p:nvPr/>
        </p:nvSpPr>
        <p:spPr>
          <a:xfrm>
            <a:off x="4663440" y="2880360"/>
            <a:ext cx="4023360" cy="1783080"/>
          </a:xfrm>
          <a:prstGeom prst="rect">
            <a:avLst/>
          </a:prstGeom>
          <a:solidFill>
            <a:schemeClr val="bg2"/>
          </a:solidFill>
          <a:ln w="12700">
            <a:solidFill>
              <a:schemeClr val="bg2"/>
            </a:solidFill>
            <a:prstDash val="solid"/>
          </a:ln>
        </p:spPr>
      </p:sp>
      <p:pic>
        <p:nvPicPr>
          <p:cNvPr id="13" name="viz-correlation_analysis" descr="PM10 vs PM2.5 (scatter)">    </p:cNvPr>
          <p:cNvPicPr>
            <a:picLocks noChangeAspect="1"/>
          </p:cNvPicPr>
          <p:nvPr/>
        </p:nvPicPr>
        <p:blipFill>
          <a:blip r:embed="rId4"/>
          <a:stretch>
            <a:fillRect/>
          </a:stretch>
        </p:blipFill>
        <p:spPr>
          <a:xfrm>
            <a:off x="4754880" y="3127248"/>
            <a:ext cx="1792224" cy="1280160"/>
          </a:xfrm>
          <a:prstGeom prst="rect">
            <a:avLst/>
          </a:prstGeom>
        </p:spPr>
      </p:pic>
      <p:sp>
        <p:nvSpPr>
          <p:cNvPr id="14" name="Text 8"/>
          <p:cNvSpPr txBox="1"/>
          <p:nvPr/>
        </p:nvSpPr>
        <p:spPr>
          <a:xfrm>
            <a:off x="6638544" y="2971800"/>
            <a:ext cx="1956816" cy="1645920"/>
          </a:xfrm>
          <a:prstGeom prst="rect">
            <a:avLst/>
          </a:prstGeom>
          <a:noFill/>
          <a:ln/>
        </p:spPr>
        <p:txBody>
          <a:bodyPr wrap="square" lIns="0" tIns="0" rIns="0" bIns="0" rtlCol="0" anchor="t"/>
          <a:lstStyle/>
          <a:p>
            <a:pPr indent="0" marL="0">
              <a:spcAft>
                <a:spcPts val="300"/>
              </a:spcAft>
              <a:buNone/>
            </a:pPr>
            <a:r>
              <a:rPr lang="en-US" sz="1100" b="1" dirty="0">
                <a:solidFill>
                  <a:schemeClr val="tx1"/>
                </a:solidFill>
              </a:rPr>
              <a:t>PM10 vs PM2.5 (scatter)</a:t>
            </a:r>
            <a:endParaRPr lang="en-US" sz="1100" dirty="0"/>
          </a:p>
          <a:p>
            <a:pPr indent="0" marL="0">
              <a:spcAft>
                <a:spcPts val="300"/>
              </a:spcAft>
              <a:buNone/>
            </a:pPr>
            <a:r>
              <a:rPr lang="en-US" sz="1000" b="1" dirty="0">
                <a:solidFill>
                  <a:schemeClr val="accent1"/>
                </a:solidFill>
              </a:rPr>
              <a:t>Purpose: </a:t>
            </a:r>
            <a:pPr indent="0" marL="0">
              <a:spcAft>
                <a:spcPts val="300"/>
              </a:spcAft>
              <a:buNone/>
            </a:pPr>
            <a:r>
              <a:rPr lang="en-US" sz="1000" dirty="0">
                <a:solidFill>
                  <a:schemeClr val="tx2"/>
                </a:solidFill>
              </a:rPr>
              <a:t>Test how the two move together</a:t>
            </a:r>
            <a:endParaRPr lang="en-US" sz="1100" dirty="0"/>
          </a:p>
          <a:p>
            <a:pPr indent="0" marL="0">
              <a:spcAft>
                <a:spcPts val="300"/>
              </a:spcAft>
              <a:buNone/>
            </a:pPr>
            <a:r>
              <a:rPr lang="en-US" sz="1000" b="1" dirty="0">
                <a:solidFill>
                  <a:schemeClr val="accent1"/>
                </a:solidFill>
              </a:rPr>
              <a:t>Shows: </a:t>
            </a:r>
            <a:pPr indent="0" marL="0">
              <a:spcAft>
                <a:spcPts val="300"/>
              </a:spcAft>
              <a:buNone/>
            </a:pPr>
            <a:r>
              <a:rPr lang="en-US" sz="1000" dirty="0">
                <a:solidFill>
                  <a:schemeClr val="tx2"/>
                </a:solidFill>
              </a:rPr>
              <a:t>Station averages, 431 stations</a:t>
            </a:r>
            <a:endParaRPr lang="en-US" sz="1100" dirty="0"/>
          </a:p>
          <a:p>
            <a:pPr indent="0" marL="0">
              <a:spcAft>
                <a:spcPts val="300"/>
              </a:spcAft>
              <a:buNone/>
            </a:pPr>
            <a:r>
              <a:rPr lang="en-US" sz="1000" b="1" dirty="0">
                <a:solidFill>
                  <a:schemeClr val="accent2"/>
                </a:solidFill>
              </a:rPr>
              <a:t>Insight: </a:t>
            </a:r>
            <a:pPr indent="0" marL="0">
              <a:spcAft>
                <a:spcPts val="300"/>
              </a:spcAft>
              <a:buNone/>
            </a:pPr>
            <a:r>
              <a:rPr lang="en-US" sz="1000" dirty="0">
                <a:solidFill>
                  <a:schemeClr val="tx2"/>
                </a:solidFill>
              </a:rPr>
              <a:t>Strong upward trend, r = 0.881</a:t>
            </a:r>
            <a:endParaRPr lang="en-US" sz="11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Key Insights &amp; Recommendations</a:t>
            </a:r>
            <a:endParaRPr lang="en-US" sz="3000" dirty="0"/>
          </a:p>
        </p:txBody>
      </p:sp>
      <p:sp>
        <p:nvSpPr>
          <p:cNvPr id="3" name="Text 1"/>
          <p:cNvSpPr txBox="1"/>
          <p:nvPr/>
        </p:nvSpPr>
        <p:spPr>
          <a:xfrm>
            <a:off x="457200" y="1051560"/>
            <a:ext cx="4937760" cy="320040"/>
          </a:xfrm>
          <a:prstGeom prst="rect">
            <a:avLst/>
          </a:prstGeom>
          <a:noFill/>
          <a:ln/>
        </p:spPr>
        <p:txBody>
          <a:bodyPr wrap="square" lIns="0" tIns="0" rIns="0" bIns="0" rtlCol="0" anchor="t"/>
          <a:lstStyle/>
          <a:p>
            <a:pPr indent="0" marL="0">
              <a:buNone/>
            </a:pPr>
            <a:r>
              <a:rPr lang="en-US" sz="1700" b="1" dirty="0">
                <a:solidFill>
                  <a:schemeClr val="tx1"/>
                </a:solidFill>
              </a:rPr>
              <a:t>Key insights</a:t>
            </a:r>
            <a:endParaRPr lang="en-US" sz="1700" dirty="0"/>
          </a:p>
        </p:txBody>
      </p:sp>
      <p:sp>
        <p:nvSpPr>
          <p:cNvPr id="4" name="num-1"/>
          <p:cNvSpPr/>
          <p:nvPr/>
        </p:nvSpPr>
        <p:spPr>
          <a:xfrm>
            <a:off x="457200" y="1527048"/>
            <a:ext cx="347472" cy="347472"/>
          </a:xfrm>
          <a:prstGeom prst="ellipse">
            <a:avLst/>
          </a:prstGeom>
          <a:solidFill>
            <a:schemeClr val="accent1"/>
          </a:solidFill>
          <a:ln w="12700">
            <a:solidFill>
              <a:schemeClr val="accent1"/>
            </a:solidFill>
            <a:prstDash val="solid"/>
          </a:ln>
        </p:spPr>
      </p:sp>
      <p:sp>
        <p:nvSpPr>
          <p:cNvPr id="5" name="Text 3"/>
          <p:cNvSpPr txBox="1"/>
          <p:nvPr/>
        </p:nvSpPr>
        <p:spPr>
          <a:xfrm>
            <a:off x="457200" y="15270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960120" y="1417320"/>
            <a:ext cx="4434840" cy="566928"/>
          </a:xfrm>
          <a:prstGeom prst="rect">
            <a:avLst/>
          </a:prstGeom>
          <a:noFill/>
          <a:ln/>
        </p:spPr>
        <p:txBody>
          <a:bodyPr wrap="square" lIns="0" tIns="0" rIns="0" bIns="0" rtlCol="0" anchor="ctr"/>
          <a:lstStyle/>
          <a:p>
            <a:pPr indent="0" marL="0">
              <a:buNone/>
            </a:pPr>
            <a:r>
              <a:rPr lang="en-US" sz="1400" dirty="0">
                <a:solidFill>
                  <a:schemeClr val="tx2"/>
                </a:solidFill>
              </a:rPr>
              <a:t>PM2.5 (avg 175.2) and PM10 (avg 151.8) sit far above every other pollutant, all under 52</a:t>
            </a:r>
            <a:endParaRPr lang="en-US" sz="1400" dirty="0"/>
          </a:p>
        </p:txBody>
      </p:sp>
      <p:sp>
        <p:nvSpPr>
          <p:cNvPr id="7" name="num-2"/>
          <p:cNvSpPr/>
          <p:nvPr/>
        </p:nvSpPr>
        <p:spPr>
          <a:xfrm>
            <a:off x="457200" y="2167128"/>
            <a:ext cx="347472" cy="347472"/>
          </a:xfrm>
          <a:prstGeom prst="ellipse">
            <a:avLst/>
          </a:prstGeom>
          <a:solidFill>
            <a:schemeClr val="accent1"/>
          </a:solidFill>
          <a:ln w="12700">
            <a:solidFill>
              <a:schemeClr val="accent1"/>
            </a:solidFill>
            <a:prstDash val="solid"/>
          </a:ln>
        </p:spPr>
      </p:sp>
      <p:sp>
        <p:nvSpPr>
          <p:cNvPr id="8" name="Text 6"/>
          <p:cNvSpPr txBox="1"/>
          <p:nvPr/>
        </p:nvSpPr>
        <p:spPr>
          <a:xfrm>
            <a:off x="45720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960120" y="2057400"/>
            <a:ext cx="4434840" cy="566928"/>
          </a:xfrm>
          <a:prstGeom prst="rect">
            <a:avLst/>
          </a:prstGeom>
          <a:noFill/>
          <a:ln/>
        </p:spPr>
        <p:txBody>
          <a:bodyPr wrap="square" lIns="0" tIns="0" rIns="0" bIns="0" rtlCol="0" anchor="ctr"/>
          <a:lstStyle/>
          <a:p>
            <a:pPr indent="0" marL="0">
              <a:buNone/>
            </a:pPr>
            <a:r>
              <a:rPr lang="en-US" sz="1400" dirty="0">
                <a:solidFill>
                  <a:schemeClr val="tx2"/>
                </a:solidFill>
              </a:rPr>
              <a:t>328 of 447 PM2.5 readings (73.4%) exceed 90, the "Poor" band</a:t>
            </a:r>
            <a:endParaRPr lang="en-US" sz="1400" dirty="0"/>
          </a:p>
        </p:txBody>
      </p:sp>
      <p:sp>
        <p:nvSpPr>
          <p:cNvPr id="10" name="num-3"/>
          <p:cNvSpPr/>
          <p:nvPr/>
        </p:nvSpPr>
        <p:spPr>
          <a:xfrm>
            <a:off x="457200" y="2807208"/>
            <a:ext cx="347472" cy="347472"/>
          </a:xfrm>
          <a:prstGeom prst="ellipse">
            <a:avLst/>
          </a:prstGeom>
          <a:solidFill>
            <a:schemeClr val="accent1"/>
          </a:solidFill>
          <a:ln w="12700">
            <a:solidFill>
              <a:schemeClr val="accent1"/>
            </a:solidFill>
            <a:prstDash val="solid"/>
          </a:ln>
        </p:spPr>
      </p:sp>
      <p:sp>
        <p:nvSpPr>
          <p:cNvPr id="11" name="Text 9"/>
          <p:cNvSpPr txBox="1"/>
          <p:nvPr/>
        </p:nvSpPr>
        <p:spPr>
          <a:xfrm>
            <a:off x="457200" y="28072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960120" y="2697480"/>
            <a:ext cx="4434840" cy="566928"/>
          </a:xfrm>
          <a:prstGeom prst="rect">
            <a:avLst/>
          </a:prstGeom>
          <a:noFill/>
          <a:ln/>
        </p:spPr>
        <p:txBody>
          <a:bodyPr wrap="square" lIns="0" tIns="0" rIns="0" bIns="0" rtlCol="0" anchor="ctr"/>
          <a:lstStyle/>
          <a:p>
            <a:pPr indent="0" marL="0">
              <a:buNone/>
            </a:pPr>
            <a:r>
              <a:rPr lang="en-US" sz="1400" dirty="0">
                <a:solidFill>
                  <a:schemeClr val="tx2"/>
                </a:solidFill>
              </a:rPr>
              <a:t>Delhi leads the states at 358.5 average PM2.5, then Chandigarh (322.3) and Bihar (290.1)</a:t>
            </a:r>
            <a:endParaRPr lang="en-US" sz="1400" dirty="0"/>
          </a:p>
        </p:txBody>
      </p:sp>
      <p:sp>
        <p:nvSpPr>
          <p:cNvPr id="13" name="num-4"/>
          <p:cNvSpPr/>
          <p:nvPr/>
        </p:nvSpPr>
        <p:spPr>
          <a:xfrm>
            <a:off x="457200" y="3447288"/>
            <a:ext cx="347472" cy="347472"/>
          </a:xfrm>
          <a:prstGeom prst="ellipse">
            <a:avLst/>
          </a:prstGeom>
          <a:solidFill>
            <a:schemeClr val="accent1"/>
          </a:solidFill>
          <a:ln w="12700">
            <a:solidFill>
              <a:schemeClr val="accent1"/>
            </a:solidFill>
            <a:prstDash val="solid"/>
          </a:ln>
        </p:spPr>
      </p:sp>
      <p:sp>
        <p:nvSpPr>
          <p:cNvPr id="14" name="Text 12"/>
          <p:cNvSpPr txBox="1"/>
          <p:nvPr/>
        </p:nvSpPr>
        <p:spPr>
          <a:xfrm>
            <a:off x="457200" y="34472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3"/>
          <p:cNvSpPr txBox="1"/>
          <p:nvPr/>
        </p:nvSpPr>
        <p:spPr>
          <a:xfrm>
            <a:off x="960120" y="3337560"/>
            <a:ext cx="4434840" cy="566928"/>
          </a:xfrm>
          <a:prstGeom prst="rect">
            <a:avLst/>
          </a:prstGeom>
          <a:noFill/>
          <a:ln/>
        </p:spPr>
        <p:txBody>
          <a:bodyPr wrap="square" lIns="0" tIns="0" rIns="0" bIns="0" rtlCol="0" anchor="ctr"/>
          <a:lstStyle/>
          <a:p>
            <a:pPr indent="0" marL="0">
              <a:buNone/>
            </a:pPr>
            <a:r>
              <a:rPr lang="en-US" sz="1400" dirty="0">
                <a:solidFill>
                  <a:schemeClr val="tx2"/>
                </a:solidFill>
              </a:rPr>
              <a:t>Top-10 cities: 5 in Bihar, 3 in Rajasthan; Sri Ganganagar is highest at 406</a:t>
            </a:r>
            <a:endParaRPr lang="en-US" sz="1400" dirty="0"/>
          </a:p>
        </p:txBody>
      </p:sp>
      <p:sp>
        <p:nvSpPr>
          <p:cNvPr id="16" name="num-5"/>
          <p:cNvSpPr/>
          <p:nvPr/>
        </p:nvSpPr>
        <p:spPr>
          <a:xfrm>
            <a:off x="457200" y="4087368"/>
            <a:ext cx="347472" cy="347472"/>
          </a:xfrm>
          <a:prstGeom prst="ellipse">
            <a:avLst/>
          </a:prstGeom>
          <a:solidFill>
            <a:schemeClr val="accent1"/>
          </a:solidFill>
          <a:ln w="12700">
            <a:solidFill>
              <a:schemeClr val="accent1"/>
            </a:solidFill>
            <a:prstDash val="solid"/>
          </a:ln>
        </p:spPr>
      </p:sp>
      <p:sp>
        <p:nvSpPr>
          <p:cNvPr id="17" name="Text 15"/>
          <p:cNvSpPr txBox="1"/>
          <p:nvPr/>
        </p:nvSpPr>
        <p:spPr>
          <a:xfrm>
            <a:off x="45720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6"/>
          <p:cNvSpPr txBox="1"/>
          <p:nvPr/>
        </p:nvSpPr>
        <p:spPr>
          <a:xfrm>
            <a:off x="960120" y="3977640"/>
            <a:ext cx="4434840" cy="566928"/>
          </a:xfrm>
          <a:prstGeom prst="rect">
            <a:avLst/>
          </a:prstGeom>
          <a:noFill/>
          <a:ln/>
        </p:spPr>
        <p:txBody>
          <a:bodyPr wrap="square" lIns="0" tIns="0" rIns="0" bIns="0" rtlCol="0" anchor="ctr"/>
          <a:lstStyle/>
          <a:p>
            <a:pPr indent="0" marL="0">
              <a:buNone/>
            </a:pPr>
            <a:r>
              <a:rPr lang="en-US" sz="1400" dirty="0">
                <a:solidFill>
                  <a:schemeClr val="tx2"/>
                </a:solidFill>
              </a:rPr>
              <a:t>PM2.5 and PM10 rise together (r = 0.881 across 431 stations)</a:t>
            </a:r>
            <a:endParaRPr lang="en-US" sz="1400" dirty="0"/>
          </a:p>
        </p:txBody>
      </p:sp>
      <p:sp>
        <p:nvSpPr>
          <p:cNvPr id="19" name="reco-panel"/>
          <p:cNvSpPr/>
          <p:nvPr/>
        </p:nvSpPr>
        <p:spPr>
          <a:xfrm>
            <a:off x="5669280" y="1051560"/>
            <a:ext cx="3017520" cy="2240280"/>
          </a:xfrm>
          <a:prstGeom prst="rect">
            <a:avLst/>
          </a:prstGeom>
          <a:solidFill>
            <a:schemeClr val="bg2"/>
          </a:solidFill>
          <a:ln w="12700">
            <a:solidFill>
              <a:schemeClr val="bg2"/>
            </a:solidFill>
            <a:prstDash val="solid"/>
          </a:ln>
        </p:spPr>
      </p:sp>
      <p:sp>
        <p:nvSpPr>
          <p:cNvPr id="20" name="Text 18"/>
          <p:cNvSpPr txBox="1"/>
          <p:nvPr/>
        </p:nvSpPr>
        <p:spPr>
          <a:xfrm>
            <a:off x="5852160" y="1143000"/>
            <a:ext cx="2651760" cy="320040"/>
          </a:xfrm>
          <a:prstGeom prst="rect">
            <a:avLst/>
          </a:prstGeom>
          <a:noFill/>
          <a:ln/>
        </p:spPr>
        <p:txBody>
          <a:bodyPr wrap="square" lIns="0" tIns="0" rIns="0" bIns="0" rtlCol="0" anchor="t"/>
          <a:lstStyle/>
          <a:p>
            <a:pPr indent="0" marL="0">
              <a:buNone/>
            </a:pPr>
            <a:r>
              <a:rPr lang="en-US" sz="1700" b="1" dirty="0">
                <a:solidFill>
                  <a:schemeClr val="tx1"/>
                </a:solidFill>
              </a:rPr>
              <a:t>Recommendations</a:t>
            </a:r>
            <a:endParaRPr lang="en-US" sz="1700" dirty="0"/>
          </a:p>
        </p:txBody>
      </p:sp>
      <p:sp>
        <p:nvSpPr>
          <p:cNvPr id="21" name="Text 19"/>
          <p:cNvSpPr txBox="1"/>
          <p:nvPr/>
        </p:nvSpPr>
        <p:spPr>
          <a:xfrm>
            <a:off x="5852160" y="1508760"/>
            <a:ext cx="26974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Target controls and funding at the top-10 states and cities</a:t>
            </a:r>
            <a:endParaRPr lang="en-US" sz="1400" dirty="0"/>
          </a:p>
          <a:p>
            <a:pPr marL="342900" indent="-342900">
              <a:spcAft>
                <a:spcPts val="600"/>
              </a:spcAft>
              <a:buSzPct val="100000"/>
              <a:buChar char="•"/>
            </a:pPr>
            <a:r>
              <a:rPr lang="en-US" sz="1400" dirty="0">
                <a:solidFill>
                  <a:schemeClr val="tx2"/>
                </a:solidFill>
              </a:rPr>
              <a:t>Add monitoring and health warnings where PM2.5 exceeds 90</a:t>
            </a:r>
            <a:endParaRPr lang="en-US" sz="1400" dirty="0"/>
          </a:p>
          <a:p>
            <a:pPr marL="342900" indent="-342900">
              <a:spcAft>
                <a:spcPts val="600"/>
              </a:spcAft>
              <a:buSzPct val="100000"/>
              <a:buChar char="•"/>
            </a:pPr>
            <a:r>
              <a:rPr lang="en-US" sz="1400" dirty="0">
                <a:solidFill>
                  <a:schemeClr val="tx2"/>
                </a:solidFill>
              </a:rPr>
              <a:t>Write state-specific policies for PM2.5 and PM10 sources</a:t>
            </a:r>
            <a:endParaRPr lang="en-US" sz="1400" dirty="0"/>
          </a:p>
        </p:txBody>
      </p:sp>
      <p:sp>
        <p:nvSpPr>
          <p:cNvPr id="22" name="caveat-panel"/>
          <p:cNvSpPr/>
          <p:nvPr/>
        </p:nvSpPr>
        <p:spPr>
          <a:xfrm>
            <a:off x="5669280" y="3474720"/>
            <a:ext cx="3017520" cy="1143000"/>
          </a:xfrm>
          <a:prstGeom prst="rect">
            <a:avLst/>
          </a:prstGeom>
          <a:solidFill>
            <a:schemeClr val="bg2"/>
          </a:solidFill>
          <a:ln w="12700">
            <a:solidFill>
              <a:schemeClr val="bg2"/>
            </a:solidFill>
            <a:prstDash val="solid"/>
          </a:ln>
        </p:spPr>
      </p:sp>
      <p:sp>
        <p:nvSpPr>
          <p:cNvPr id="23" name="Text 21"/>
          <p:cNvSpPr txBox="1"/>
          <p:nvPr/>
        </p:nvSpPr>
        <p:spPr>
          <a:xfrm>
            <a:off x="5806440" y="3520440"/>
            <a:ext cx="2743200" cy="1051560"/>
          </a:xfrm>
          <a:prstGeom prst="rect">
            <a:avLst/>
          </a:prstGeom>
          <a:noFill/>
          <a:ln/>
        </p:spPr>
        <p:txBody>
          <a:bodyPr wrap="square" lIns="0" tIns="0" rIns="0" bIns="0" rtlCol="0" anchor="ctr"/>
          <a:lstStyle/>
          <a:p>
            <a:pPr indent="0" marL="0">
              <a:buNone/>
            </a:pPr>
            <a:r>
              <a:rPr lang="en-US" sz="1200" b="1" dirty="0">
                <a:solidFill>
                  <a:schemeClr val="accent2"/>
                </a:solidFill>
              </a:rPr>
              <a:t>Read with care: </a:t>
            </a:r>
            <a:pPr indent="0" marL="0">
              <a:buNone/>
            </a:pPr>
            <a:r>
              <a:rPr lang="en-US" sz="1200" dirty="0">
                <a:solidFill>
                  <a:schemeClr val="tx2"/>
                </a:solidFill>
              </a:rPr>
              <a:t>Tripura and Himachal Pradesh rest on 1 PM2.5 reading each, Chandigarh on 3. Confirm with more data.</a:t>
            </a:r>
            <a:endParaRPr lang="en-US" sz="12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8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Conclusion</a:t>
            </a:r>
            <a:endParaRPr lang="en-US" sz="3000" dirty="0"/>
          </a:p>
        </p:txBody>
      </p:sp>
      <p:sp>
        <p:nvSpPr>
          <p:cNvPr id="3" name="concl-card-1"/>
          <p:cNvSpPr/>
          <p:nvPr/>
        </p:nvSpPr>
        <p:spPr>
          <a:xfrm>
            <a:off x="457200" y="1097280"/>
            <a:ext cx="4023360" cy="1691640"/>
          </a:xfrm>
          <a:prstGeom prst="rect">
            <a:avLst/>
          </a:prstGeom>
          <a:solidFill>
            <a:schemeClr val="tx2"/>
          </a:solidFill>
          <a:ln w="12700">
            <a:solidFill>
              <a:schemeClr val="tx2"/>
            </a:solidFill>
            <a:prstDash val="solid"/>
          </a:ln>
        </p:spPr>
      </p:sp>
      <p:sp>
        <p:nvSpPr>
          <p:cNvPr id="4" name="Text 2"/>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What was achieved</a:t>
            </a:r>
            <a:endParaRPr lang="en-US" sz="1600" dirty="0"/>
          </a:p>
        </p:txBody>
      </p:sp>
      <p:sp>
        <p:nvSpPr>
          <p:cNvPr id="5" name="Text 3"/>
          <p:cNvSpPr txBox="1"/>
          <p:nvPr/>
        </p:nvSpPr>
        <p:spPr>
          <a:xfrm>
            <a:off x="640080" y="1600200"/>
            <a:ext cx="3657600" cy="1097280"/>
          </a:xfrm>
          <a:prstGeom prst="rect">
            <a:avLst/>
          </a:prstGeom>
          <a:noFill/>
          <a:ln/>
        </p:spPr>
        <p:txBody>
          <a:bodyPr wrap="square" lIns="0" tIns="0" rIns="0" bIns="0" rtlCol="0" anchor="t"/>
          <a:lstStyle/>
          <a:p>
            <a:pPr indent="0" marL="0">
              <a:buNone/>
            </a:pPr>
            <a:r>
              <a:rPr lang="en-US" sz="1500" dirty="0">
                <a:solidFill>
                  <a:schemeClr val="bg1"/>
                </a:solidFill>
              </a:rPr>
              <a:t>Cleaned 3,314 raw rows into 3,093 valid readings and ran a full EDA with statistics and four charts.</a:t>
            </a:r>
            <a:endParaRPr lang="en-US" sz="1500" dirty="0"/>
          </a:p>
        </p:txBody>
      </p:sp>
      <p:sp>
        <p:nvSpPr>
          <p:cNvPr id="6" name="concl-card-2"/>
          <p:cNvSpPr/>
          <p:nvPr/>
        </p:nvSpPr>
        <p:spPr>
          <a:xfrm>
            <a:off x="4663440" y="1097280"/>
            <a:ext cx="4023360" cy="1691640"/>
          </a:xfrm>
          <a:prstGeom prst="rect">
            <a:avLst/>
          </a:prstGeom>
          <a:solidFill>
            <a:schemeClr val="tx2"/>
          </a:solidFill>
          <a:ln w="12700">
            <a:solidFill>
              <a:schemeClr val="tx2"/>
            </a:solidFill>
            <a:prstDash val="solid"/>
          </a:ln>
        </p:spPr>
      </p:sp>
      <p:sp>
        <p:nvSpPr>
          <p:cNvPr id="7" name="Text 5"/>
          <p:cNvSpPr txBox="1"/>
          <p:nvPr/>
        </p:nvSpPr>
        <p:spPr>
          <a:xfrm>
            <a:off x="4846320" y="123444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Major findings</a:t>
            </a:r>
            <a:endParaRPr lang="en-US" sz="1600" dirty="0"/>
          </a:p>
        </p:txBody>
      </p:sp>
      <p:sp>
        <p:nvSpPr>
          <p:cNvPr id="8" name="Text 6"/>
          <p:cNvSpPr txBox="1"/>
          <p:nvPr/>
        </p:nvSpPr>
        <p:spPr>
          <a:xfrm>
            <a:off x="4846320" y="1600200"/>
            <a:ext cx="3657600" cy="1097280"/>
          </a:xfrm>
          <a:prstGeom prst="rect">
            <a:avLst/>
          </a:prstGeom>
          <a:noFill/>
          <a:ln/>
        </p:spPr>
        <p:txBody>
          <a:bodyPr wrap="square" lIns="0" tIns="0" rIns="0" bIns="0" rtlCol="0" anchor="t"/>
          <a:lstStyle/>
          <a:p>
            <a:pPr indent="0" marL="0">
              <a:buNone/>
            </a:pPr>
            <a:r>
              <a:rPr lang="en-US" sz="1500" dirty="0">
                <a:solidFill>
                  <a:schemeClr val="bg1"/>
                </a:solidFill>
              </a:rPr>
              <a:t>73.4% of PM2.5 readings are above 90; Delhi, Chandigarh and Bihar lead the states; PM2.5 and PM10 correlate at r = 0.881.</a:t>
            </a:r>
            <a:endParaRPr lang="en-US" sz="1500" dirty="0"/>
          </a:p>
        </p:txBody>
      </p:sp>
      <p:sp>
        <p:nvSpPr>
          <p:cNvPr id="9" name="concl-card-3"/>
          <p:cNvSpPr/>
          <p:nvPr/>
        </p:nvSpPr>
        <p:spPr>
          <a:xfrm>
            <a:off x="457200" y="2926080"/>
            <a:ext cx="4023360" cy="1691640"/>
          </a:xfrm>
          <a:prstGeom prst="rect">
            <a:avLst/>
          </a:prstGeom>
          <a:solidFill>
            <a:schemeClr val="tx2"/>
          </a:solidFill>
          <a:ln w="12700">
            <a:solidFill>
              <a:schemeClr val="tx2"/>
            </a:solidFill>
            <a:prstDash val="solid"/>
          </a:ln>
        </p:spPr>
      </p:sp>
      <p:sp>
        <p:nvSpPr>
          <p:cNvPr id="10" name="Text 8"/>
          <p:cNvSpPr txBox="1"/>
          <p:nvPr/>
        </p:nvSpPr>
        <p:spPr>
          <a:xfrm>
            <a:off x="640080" y="306324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How it addresses the problem</a:t>
            </a:r>
            <a:endParaRPr lang="en-US" sz="1600" dirty="0"/>
          </a:p>
        </p:txBody>
      </p:sp>
      <p:sp>
        <p:nvSpPr>
          <p:cNvPr id="11" name="Text 9"/>
          <p:cNvSpPr txBox="1"/>
          <p:nvPr/>
        </p:nvSpPr>
        <p:spPr>
          <a:xfrm>
            <a:off x="640080" y="3429000"/>
            <a:ext cx="3657600" cy="1097280"/>
          </a:xfrm>
          <a:prstGeom prst="rect">
            <a:avLst/>
          </a:prstGeom>
          <a:noFill/>
          <a:ln/>
        </p:spPr>
        <p:txBody>
          <a:bodyPr wrap="square" lIns="0" tIns="0" rIns="0" bIns="0" rtlCol="0" anchor="t"/>
          <a:lstStyle/>
          <a:p>
            <a:pPr indent="0" marL="0">
              <a:buNone/>
            </a:pPr>
            <a:r>
              <a:rPr lang="en-US" sz="1500" dirty="0">
                <a:solidFill>
                  <a:schemeClr val="bg1"/>
                </a:solidFill>
              </a:rPr>
              <a:t>Ranked hotspots show where to act first and where to issue health warnings.</a:t>
            </a:r>
            <a:endParaRPr lang="en-US" sz="1500" dirty="0"/>
          </a:p>
        </p:txBody>
      </p:sp>
      <p:sp>
        <p:nvSpPr>
          <p:cNvPr id="12" name="concl-card-4"/>
          <p:cNvSpPr/>
          <p:nvPr/>
        </p:nvSpPr>
        <p:spPr>
          <a:xfrm>
            <a:off x="4663440" y="2926080"/>
            <a:ext cx="4023360" cy="1691640"/>
          </a:xfrm>
          <a:prstGeom prst="rect">
            <a:avLst/>
          </a:prstGeom>
          <a:solidFill>
            <a:schemeClr val="tx2"/>
          </a:solidFill>
          <a:ln w="12700">
            <a:solidFill>
              <a:schemeClr val="tx2"/>
            </a:solidFill>
            <a:prstDash val="solid"/>
          </a:ln>
        </p:spPr>
      </p:sp>
      <p:sp>
        <p:nvSpPr>
          <p:cNvPr id="13" name="Text 11"/>
          <p:cNvSpPr txBox="1"/>
          <p:nvPr/>
        </p:nvSpPr>
        <p:spPr>
          <a:xfrm>
            <a:off x="4846320" y="306324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Future scope</a:t>
            </a:r>
            <a:endParaRPr lang="en-US" sz="1600" dirty="0"/>
          </a:p>
        </p:txBody>
      </p:sp>
      <p:sp>
        <p:nvSpPr>
          <p:cNvPr id="14" name="Text 12"/>
          <p:cNvSpPr txBox="1"/>
          <p:nvPr/>
        </p:nvSpPr>
        <p:spPr>
          <a:xfrm>
            <a:off x="4846320" y="3429000"/>
            <a:ext cx="3657600" cy="1097280"/>
          </a:xfrm>
          <a:prstGeom prst="rect">
            <a:avLst/>
          </a:prstGeom>
          <a:noFill/>
          <a:ln/>
        </p:spPr>
        <p:txBody>
          <a:bodyPr wrap="square" lIns="0" tIns="0" rIns="0" bIns="0" rtlCol="0" anchor="t"/>
          <a:lstStyle/>
          <a:p>
            <a:pPr indent="0" marL="0">
              <a:buNone/>
            </a:pPr>
            <a:r>
              <a:rPr lang="en-US" sz="1500" dirty="0">
                <a:solidFill>
                  <a:schemeClr val="bg1"/>
                </a:solidFill>
              </a:rPr>
              <a:t>Add readings over time, compute AQI, map stations by latitude and longitude, fix state-name formatting, model PM2.5 from PM10.</a:t>
            </a:r>
            <a:endParaRPr lang="en-US" sz="1500" dirty="0"/>
          </a:p>
        </p:txBody>
      </p:sp>
      <p:sp>
        <p:nvSpPr>
          <p:cNvPr id="25" name="Slide Number Placeholder 0"/>
          <p:cNvSpPr>
            <a:spLocks noGrp="1"/>
          </p:cNvSpPr>
          <p:nvPr>
            <p:ph type="sldNum" sz="quarter" idx="4294967295"/>
          </p:nvPr>
        </p:nvSpPr>
        <p:spPr>
          <a:xfrm>
            <a:off x="832104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C4C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irQualityEDA">
  <a:themeElements>
    <a:clrScheme name="AirQualityEDA">
      <a:dk1>
        <a:srgbClr val="17242D"/>
      </a:dk1>
      <a:lt1>
        <a:srgbClr val="FFFFFF"/>
      </a:lt1>
      <a:dk2>
        <a:srgbClr val="2F4858"/>
      </a:dk2>
      <a:lt2>
        <a:srgbClr val="EAF1F3"/>
      </a:lt2>
      <a:accent1>
        <a:srgbClr val="1B8A8F"/>
      </a:accent1>
      <a:accent2>
        <a:srgbClr val="E4572E"/>
      </a:accent2>
      <a:accent3>
        <a:srgbClr val="F0A830"/>
      </a:accent3>
      <a:accent4>
        <a:srgbClr val="5C7A89"/>
      </a:accent4>
      <a:accent5>
        <a:srgbClr val="8CC4C0"/>
      </a:accent5>
      <a:accent6>
        <a:srgbClr val="B83A4B"/>
      </a:accent6>
      <a:hlink>
        <a:srgbClr val="1B8A8F"/>
      </a:hlink>
      <a:folHlink>
        <a:srgbClr val="5C7A89"/>
      </a:folHlink>
    </a:clrScheme>
    <a:fontScheme name="AirQualityED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Quality Analysis in India</dc:title>
  <dc:subject>PptxGenJS Presentation</dc:subject>
  <dc:creator>Ajmal</dc:creator>
  <cp:lastModifiedBy>Ajmal</cp:lastModifiedBy>
  <cp:revision>1</cp:revision>
  <dcterms:created xsi:type="dcterms:W3CDTF">2026-10-07T10:13:06Z</dcterms:created>
  <dcterms:modified xsi:type="dcterms:W3CDTF">2026-10-07T10:13:06Z</dcterms:modified>
</cp:coreProperties>
</file>